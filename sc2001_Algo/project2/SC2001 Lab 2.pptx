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4"/>
  </p:sldMasterIdLst>
  <p:notesMasterIdLst>
    <p:notesMasterId r:id="rId32"/>
  </p:notesMasterIdLst>
  <p:sldIdLst>
    <p:sldId id="256" r:id="rId5"/>
    <p:sldId id="257" r:id="rId6"/>
    <p:sldId id="263" r:id="rId7"/>
    <p:sldId id="265" r:id="rId8"/>
    <p:sldId id="289" r:id="rId9"/>
    <p:sldId id="290" r:id="rId10"/>
    <p:sldId id="291" r:id="rId11"/>
    <p:sldId id="268" r:id="rId12"/>
    <p:sldId id="269" r:id="rId13"/>
    <p:sldId id="270" r:id="rId14"/>
    <p:sldId id="261" r:id="rId15"/>
    <p:sldId id="259" r:id="rId16"/>
    <p:sldId id="273" r:id="rId17"/>
    <p:sldId id="274" r:id="rId18"/>
    <p:sldId id="275" r:id="rId19"/>
    <p:sldId id="272" r:id="rId20"/>
    <p:sldId id="262" r:id="rId21"/>
    <p:sldId id="260" r:id="rId22"/>
    <p:sldId id="283" r:id="rId23"/>
    <p:sldId id="282" r:id="rId24"/>
    <p:sldId id="271" r:id="rId25"/>
    <p:sldId id="258" r:id="rId26"/>
    <p:sldId id="288" r:id="rId27"/>
    <p:sldId id="287" r:id="rId28"/>
    <p:sldId id="286" r:id="rId29"/>
    <p:sldId id="281" r:id="rId30"/>
    <p:sldId id="28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0C51D6-CEFD-16DB-FFDD-51BB58264807}" name="Guest User" initials="GU" userId="S::urn:spo:tenantanon#06f32413-13fd-4f17-a573-ecb2ff164fb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9D14CA-ED0C-8AF8-BAA5-CC6C65A5FB0C}" v="3" dt="2025-10-15T06:52:59.479"/>
    <p1510:client id="{73CCBEDB-218C-1BEF-E2F9-EA1AEDDF0196}" v="58" dt="2025-10-14T13:54:12.848"/>
    <p1510:client id="{88C614DA-14C0-0689-8D71-21A28B7E21E4}" v="57" dt="2025-10-15T07:46:13.746"/>
    <p1510:client id="{A763102E-030B-092E-D503-789B262CCEE0}" v="241" dt="2025-10-13T15:07:29.428"/>
    <p1510:client id="{B19A84CB-6B96-D970-2D5A-0E23F26923BA}" v="10" dt="2025-10-15T06:42:16.221"/>
    <p1510:client id="{DDF8F93A-94CA-BD52-BDCB-9F490FF9855A}" v="46" dt="2025-10-15T06:56:42.893"/>
    <p1510:client id="{EEBEFA93-115E-58D5-3FD8-DE8D5D7F6F85}" v="14" dt="2025-10-14T09:20:01.9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727E98-5D31-435B-9A3D-75D1B044D0B2}" type="datetimeFigureOut">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9FFA41-620F-4AB8-AEEC-C74E60C29EC7}" type="slidenum">
              <a:t>‹#›</a:t>
            </a:fld>
            <a:endParaRPr lang="en-US"/>
          </a:p>
        </p:txBody>
      </p:sp>
    </p:spTree>
    <p:extLst>
      <p:ext uri="{BB962C8B-B14F-4D97-AF65-F5344CB8AC3E}">
        <p14:creationId xmlns:p14="http://schemas.microsoft.com/office/powerpoint/2010/main" val="3494126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249FFA41-620F-4AB8-AEEC-C74E60C29EC7}" type="slidenum">
              <a:t>12</a:t>
            </a:fld>
            <a:endParaRPr lang="en-US"/>
          </a:p>
        </p:txBody>
      </p:sp>
    </p:spTree>
    <p:extLst>
      <p:ext uri="{BB962C8B-B14F-4D97-AF65-F5344CB8AC3E}">
        <p14:creationId xmlns:p14="http://schemas.microsoft.com/office/powerpoint/2010/main" val="1487080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8AE9C-EE5B-4EDF-DB0E-05319CE79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52251-096B-4B49-793F-7CFC16A91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C9E527-F47E-8BAB-B65A-BC0F83D8B87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13DF13A7-4408-E8E9-C364-9643FB1646EA}"/>
              </a:ext>
            </a:extLst>
          </p:cNvPr>
          <p:cNvSpPr>
            <a:spLocks noGrp="1"/>
          </p:cNvSpPr>
          <p:nvPr>
            <p:ph type="sldNum" sz="quarter" idx="5"/>
          </p:nvPr>
        </p:nvSpPr>
        <p:spPr/>
        <p:txBody>
          <a:bodyPr/>
          <a:lstStyle/>
          <a:p>
            <a:fld id="{249FFA41-620F-4AB8-AEEC-C74E60C29EC7}" type="slidenum">
              <a:t>13</a:t>
            </a:fld>
            <a:endParaRPr lang="en-US"/>
          </a:p>
        </p:txBody>
      </p:sp>
    </p:spTree>
    <p:extLst>
      <p:ext uri="{BB962C8B-B14F-4D97-AF65-F5344CB8AC3E}">
        <p14:creationId xmlns:p14="http://schemas.microsoft.com/office/powerpoint/2010/main" val="2825200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C4FD2-5B86-C413-10D7-AE5CF72775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E149A-FBD2-38CE-E3ED-A1365C2AAD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9637F-87F6-3C33-94AF-1EDB7D36224B}"/>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97A34E7A-28AA-D2FC-652A-ED184F3357E6}"/>
              </a:ext>
            </a:extLst>
          </p:cNvPr>
          <p:cNvSpPr>
            <a:spLocks noGrp="1"/>
          </p:cNvSpPr>
          <p:nvPr>
            <p:ph type="sldNum" sz="quarter" idx="5"/>
          </p:nvPr>
        </p:nvSpPr>
        <p:spPr/>
        <p:txBody>
          <a:bodyPr/>
          <a:lstStyle/>
          <a:p>
            <a:fld id="{249FFA41-620F-4AB8-AEEC-C74E60C29EC7}" type="slidenum">
              <a:t>14</a:t>
            </a:fld>
            <a:endParaRPr lang="en-US"/>
          </a:p>
        </p:txBody>
      </p:sp>
    </p:spTree>
    <p:extLst>
      <p:ext uri="{BB962C8B-B14F-4D97-AF65-F5344CB8AC3E}">
        <p14:creationId xmlns:p14="http://schemas.microsoft.com/office/powerpoint/2010/main" val="3269045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9FCEA-2842-C02A-88C1-B0215F0D50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F68184-719F-6580-41F0-E2301E3775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B3C42-DC22-46C6-DA57-ECAA130DBC9E}"/>
              </a:ext>
            </a:extLst>
          </p:cNvPr>
          <p:cNvSpPr>
            <a:spLocks noGrp="1"/>
          </p:cNvSpPr>
          <p:nvPr>
            <p:ph type="body" idx="1"/>
          </p:nvPr>
        </p:nvSpPr>
        <p:spPr/>
        <p:txBody>
          <a:bodyPr/>
          <a:lstStyle/>
          <a:p>
            <a:r>
              <a:rPr lang="en-US">
                <a:ea typeface="Calibri"/>
                <a:cs typeface="Calibri"/>
              </a:rPr>
              <a:t>O(|V|) is </a:t>
            </a:r>
            <a:r>
              <a:rPr lang="en-US" err="1">
                <a:ea typeface="Calibri"/>
                <a:cs typeface="Calibri"/>
              </a:rPr>
              <a:t>absored</a:t>
            </a:r>
            <a:r>
              <a:rPr lang="en-US">
                <a:ea typeface="Calibri"/>
                <a:cs typeface="Calibri"/>
              </a:rPr>
              <a:t> into O(|V| log |V|)</a:t>
            </a:r>
          </a:p>
        </p:txBody>
      </p:sp>
      <p:sp>
        <p:nvSpPr>
          <p:cNvPr id="4" name="Slide Number Placeholder 3">
            <a:extLst>
              <a:ext uri="{FF2B5EF4-FFF2-40B4-BE49-F238E27FC236}">
                <a16:creationId xmlns:a16="http://schemas.microsoft.com/office/drawing/2014/main" id="{C4D47EC1-E1C5-FB52-E2B7-55BBDA77133F}"/>
              </a:ext>
            </a:extLst>
          </p:cNvPr>
          <p:cNvSpPr>
            <a:spLocks noGrp="1"/>
          </p:cNvSpPr>
          <p:nvPr>
            <p:ph type="sldNum" sz="quarter" idx="5"/>
          </p:nvPr>
        </p:nvSpPr>
        <p:spPr/>
        <p:txBody>
          <a:bodyPr/>
          <a:lstStyle/>
          <a:p>
            <a:fld id="{249FFA41-620F-4AB8-AEEC-C74E60C29EC7}" type="slidenum">
              <a:t>15</a:t>
            </a:fld>
            <a:endParaRPr lang="en-US"/>
          </a:p>
        </p:txBody>
      </p:sp>
    </p:spTree>
    <p:extLst>
      <p:ext uri="{BB962C8B-B14F-4D97-AF65-F5344CB8AC3E}">
        <p14:creationId xmlns:p14="http://schemas.microsoft.com/office/powerpoint/2010/main" val="2303906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heap queue (also called a priority queue) is a special data structure that allows quick access to the smallest (min-heap) or largest (max-heap) element.</a:t>
            </a:r>
          </a:p>
          <a:p>
            <a:r>
              <a:rPr lang="en-US"/>
              <a:t> </a:t>
            </a:r>
            <a:endParaRPr lang="en-US">
              <a:ea typeface="Calibri"/>
              <a:cs typeface="Calibri"/>
            </a:endParaRPr>
          </a:p>
          <a:p>
            <a:pPr marL="285750" indent="-285750">
              <a:buFont typeface="Arial"/>
              <a:buChar char="•"/>
            </a:pPr>
            <a:r>
              <a:rPr lang="en-US"/>
              <a:t>Provides an efficient way to implement priority queues using heaps.</a:t>
            </a:r>
          </a:p>
          <a:p>
            <a:pPr marL="285750" indent="-285750">
              <a:buFont typeface="Arial"/>
              <a:buChar char="•"/>
            </a:pPr>
            <a:r>
              <a:rPr lang="en-US"/>
              <a:t>Helps maintain a list in heap order with minimal code and high performance.</a:t>
            </a:r>
          </a:p>
          <a:p>
            <a:endParaRPr lang="en-US">
              <a:ea typeface="Calibri"/>
              <a:cs typeface="Calibri"/>
            </a:endParaRPr>
          </a:p>
          <a:p>
            <a:r>
              <a:rPr lang="en-US" b="1"/>
              <a:t>With a Min-Heap (Priority Queue)</a:t>
            </a:r>
            <a:endParaRPr lang="en-US"/>
          </a:p>
          <a:p>
            <a:r>
              <a:rPr lang="en-US"/>
              <a:t>When we replace that array with a </a:t>
            </a:r>
            <a:r>
              <a:rPr lang="en-US" b="1"/>
              <a:t>min-heap</a:t>
            </a:r>
            <a:r>
              <a:rPr lang="en-US"/>
              <a:t>, we get two key improvements:</a:t>
            </a:r>
          </a:p>
          <a:p>
            <a:pPr marL="171450" indent="-171450">
              <a:buFont typeface="Arial"/>
              <a:buChar char="•"/>
            </a:pPr>
            <a:r>
              <a:rPr lang="en-US" b="1"/>
              <a:t>Extract-Min (Heap Pop)</a:t>
            </a:r>
            <a:endParaRPr lang="en-US"/>
          </a:p>
          <a:p>
            <a:pPr marL="628650" lvl="1" indent="-171450">
              <a:buFont typeface="Arial"/>
              <a:buChar char="•"/>
            </a:pPr>
            <a:r>
              <a:rPr lang="en-US"/>
              <a:t>Instead of O(|V|) linear search, heappop() takes </a:t>
            </a:r>
            <a:r>
              <a:rPr lang="en-US" b="1"/>
              <a:t>O(log |V|)</a:t>
            </a:r>
            <a:r>
              <a:rPr lang="en-US"/>
              <a:t>.</a:t>
            </a:r>
          </a:p>
          <a:p>
            <a:pPr marL="628650" lvl="1" indent="-171450">
              <a:buFont typeface="Arial"/>
              <a:buChar char="•"/>
            </a:pPr>
            <a:r>
              <a:rPr lang="en-US"/>
              <a:t>Done |V| times → </a:t>
            </a:r>
            <a:r>
              <a:rPr lang="en-US" b="1"/>
              <a:t>O(|V| log |V|)</a:t>
            </a:r>
            <a:r>
              <a:rPr lang="en-US"/>
              <a:t> total.</a:t>
            </a:r>
          </a:p>
          <a:p>
            <a:pPr marL="171450" indent="-171450">
              <a:buFont typeface="Arial"/>
              <a:buChar char="•"/>
            </a:pPr>
            <a:r>
              <a:rPr lang="en-US" b="1"/>
              <a:t>Decrease-Key (or Push)</a:t>
            </a:r>
            <a:endParaRPr lang="en-US"/>
          </a:p>
          <a:p>
            <a:pPr marL="628650" lvl="1" indent="-171450">
              <a:buFont typeface="Arial"/>
              <a:buChar char="•"/>
            </a:pPr>
            <a:r>
              <a:rPr lang="en-US"/>
              <a:t>Each time we relax an edge, we push the new distance into the heap → </a:t>
            </a:r>
            <a:r>
              <a:rPr lang="en-US" b="1"/>
              <a:t>O(log |V|)</a:t>
            </a:r>
            <a:r>
              <a:rPr lang="en-US"/>
              <a:t> per operation.</a:t>
            </a:r>
          </a:p>
          <a:p>
            <a:pPr marL="628650" lvl="1" indent="-171450">
              <a:buFont typeface="Arial"/>
              <a:buChar char="•"/>
            </a:pPr>
            <a:r>
              <a:rPr lang="en-US"/>
              <a:t>Done up to |E| times → </a:t>
            </a:r>
            <a:r>
              <a:rPr lang="en-US" b="1"/>
              <a:t>O(|E| log |V|)</a:t>
            </a:r>
            <a:r>
              <a:rPr lang="en-US"/>
              <a:t> total.</a:t>
            </a:r>
          </a:p>
          <a:p>
            <a:pPr lvl="1"/>
            <a:r>
              <a:rPr lang="en-US"/>
              <a:t>✅ Thus, the total becomes:</a:t>
            </a:r>
          </a:p>
          <a:p>
            <a:r>
              <a:rPr lang="en-US"/>
              <a:t>O((∣V∣+∣E∣)log⁡∣V∣)O((|V| + |E|) \log |V|)O((∣V∣+∣E∣)log∣V∣)</a:t>
            </a:r>
          </a:p>
        </p:txBody>
      </p:sp>
      <p:sp>
        <p:nvSpPr>
          <p:cNvPr id="4" name="Slide Number Placeholder 3"/>
          <p:cNvSpPr>
            <a:spLocks noGrp="1"/>
          </p:cNvSpPr>
          <p:nvPr>
            <p:ph type="sldNum" sz="quarter" idx="5"/>
          </p:nvPr>
        </p:nvSpPr>
        <p:spPr/>
        <p:txBody>
          <a:bodyPr/>
          <a:lstStyle/>
          <a:p>
            <a:fld id="{249FFA41-620F-4AB8-AEEC-C74E60C29EC7}" type="slidenum">
              <a:t>16</a:t>
            </a:fld>
            <a:endParaRPr lang="en-US"/>
          </a:p>
        </p:txBody>
      </p:sp>
    </p:spTree>
    <p:extLst>
      <p:ext uri="{BB962C8B-B14F-4D97-AF65-F5344CB8AC3E}">
        <p14:creationId xmlns:p14="http://schemas.microsoft.com/office/powerpoint/2010/main" val="1748187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249FFA41-620F-4AB8-AEEC-C74E60C29EC7}" type="slidenum">
              <a:rPr lang="en-GB"/>
              <a:t>22</a:t>
            </a:fld>
            <a:endParaRPr lang="en-GB"/>
          </a:p>
        </p:txBody>
      </p:sp>
    </p:spTree>
    <p:extLst>
      <p:ext uri="{BB962C8B-B14F-4D97-AF65-F5344CB8AC3E}">
        <p14:creationId xmlns:p14="http://schemas.microsoft.com/office/powerpoint/2010/main" val="571160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In the adjacency list, min heap pushes the shortest distance vertex to the front, thus the algorithm does not have to loop through the entire list to find the shortest distance edge. Hence this leads to a faster runtime for adjacency lists. (Link to the next slide) --&gt; This is also why adjacency list is perfect for sparse graphs and adjacency matrix is suitable for dense graphs on the other hand. </a:t>
            </a:r>
          </a:p>
          <a:p>
            <a:endParaRPr lang="en-US">
              <a:ea typeface="Calibri"/>
              <a:cs typeface="Calibri"/>
            </a:endParaRPr>
          </a:p>
          <a:p>
            <a:endParaRPr lang="en-US">
              <a:ea typeface="Calibri"/>
              <a:cs typeface="Calibri"/>
            </a:endParaRPr>
          </a:p>
          <a:p>
            <a:r>
              <a:rPr lang="en-US">
                <a:ea typeface="Calibri"/>
                <a:cs typeface="Calibri"/>
              </a:rPr>
              <a:t>V range from 2000 – 14000, in intervals of 2000. E are multiples of 10 of V. </a:t>
            </a:r>
          </a:p>
        </p:txBody>
      </p:sp>
      <p:sp>
        <p:nvSpPr>
          <p:cNvPr id="4" name="Slide Number Placeholder 3"/>
          <p:cNvSpPr>
            <a:spLocks noGrp="1"/>
          </p:cNvSpPr>
          <p:nvPr>
            <p:ph type="sldNum" sz="quarter" idx="5"/>
          </p:nvPr>
        </p:nvSpPr>
        <p:spPr/>
        <p:txBody>
          <a:bodyPr/>
          <a:lstStyle/>
          <a:p>
            <a:fld id="{249FFA41-620F-4AB8-AEEC-C74E60C29EC7}" type="slidenum">
              <a:rPr lang="en-GB"/>
              <a:t>26</a:t>
            </a:fld>
            <a:endParaRPr lang="en-GB"/>
          </a:p>
        </p:txBody>
      </p:sp>
    </p:spTree>
    <p:extLst>
      <p:ext uri="{BB962C8B-B14F-4D97-AF65-F5344CB8AC3E}">
        <p14:creationId xmlns:p14="http://schemas.microsoft.com/office/powerpoint/2010/main" val="41627055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85BB-8B07-4DC9-86F3-2A225C77748D}"/>
              </a:ext>
            </a:extLst>
          </p:cNvPr>
          <p:cNvSpPr>
            <a:spLocks noGrp="1"/>
          </p:cNvSpPr>
          <p:nvPr>
            <p:ph type="ctrTitle"/>
          </p:nvPr>
        </p:nvSpPr>
        <p:spPr>
          <a:xfrm>
            <a:off x="1600200" y="1261872"/>
            <a:ext cx="7638222" cy="2852928"/>
          </a:xfrm>
        </p:spPr>
        <p:txBody>
          <a:bodyPr anchor="b">
            <a:normAutofit/>
          </a:bodyPr>
          <a:lstStyle>
            <a:lvl1pPr algn="l">
              <a:lnSpc>
                <a:spcPct val="130000"/>
              </a:lnSpc>
              <a:defRPr sz="3600" spc="1300" baseline="0"/>
            </a:lvl1pPr>
          </a:lstStyle>
          <a:p>
            <a:r>
              <a:rPr lang="en-US"/>
              <a:t>Click to edit Master title style</a:t>
            </a:r>
          </a:p>
        </p:txBody>
      </p:sp>
      <p:sp>
        <p:nvSpPr>
          <p:cNvPr id="3" name="Subtitle 2">
            <a:extLst>
              <a:ext uri="{FF2B5EF4-FFF2-40B4-BE49-F238E27FC236}">
                <a16:creationId xmlns:a16="http://schemas.microsoft.com/office/drawing/2014/main" id="{514D496A-6E7A-4923-8ED5-B4164125DEB6}"/>
              </a:ext>
            </a:extLst>
          </p:cNvPr>
          <p:cNvSpPr>
            <a:spLocks noGrp="1"/>
          </p:cNvSpPr>
          <p:nvPr>
            <p:ph type="subTitle" idx="1"/>
          </p:nvPr>
        </p:nvSpPr>
        <p:spPr>
          <a:xfrm>
            <a:off x="1600200" y="4681728"/>
            <a:ext cx="7638222" cy="929296"/>
          </a:xfrm>
          <a:prstGeom prst="rect">
            <a:avLst/>
          </a:prstGeom>
        </p:spPr>
        <p:txBody>
          <a:bodyPr>
            <a:normAutofit/>
          </a:bodyPr>
          <a:lstStyle>
            <a:lvl1pPr marL="0" indent="0" algn="l">
              <a:lnSpc>
                <a:spcPct val="130000"/>
              </a:lnSpc>
              <a:buNone/>
              <a:defRPr sz="1600" b="1" cap="all" spc="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5E3D20-43DC-4C14-8CFF-18545AED1B5B}"/>
              </a:ext>
            </a:extLst>
          </p:cNvPr>
          <p:cNvSpPr>
            <a:spLocks noGrp="1"/>
          </p:cNvSpPr>
          <p:nvPr>
            <p:ph type="dt" sz="half" idx="10"/>
          </p:nvPr>
        </p:nvSpPr>
        <p:spPr/>
        <p:txBody>
          <a:bodyPr/>
          <a:lstStyle/>
          <a:p>
            <a:fld id="{E6171E64-FE02-4DE5-B72F-53C3706641C3}" type="datetimeFigureOut">
              <a:rPr lang="en-US" smtClean="0"/>
              <a:t>12/19/2025</a:t>
            </a:fld>
            <a:endParaRPr lang="en-US"/>
          </a:p>
        </p:txBody>
      </p:sp>
      <p:sp>
        <p:nvSpPr>
          <p:cNvPr id="5" name="Footer Placeholder 4">
            <a:extLst>
              <a:ext uri="{FF2B5EF4-FFF2-40B4-BE49-F238E27FC236}">
                <a16:creationId xmlns:a16="http://schemas.microsoft.com/office/drawing/2014/main" id="{E34FC300-5AFC-418B-85FD-EFA94BD7A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C7E81-ED3C-4DB0-8E74-AD2A87E6BE8A}"/>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0C817C9-850F-4FB6-B93B-CF3076C4A5C1}"/>
              </a:ext>
            </a:extLst>
          </p:cNvPr>
          <p:cNvGrpSpPr/>
          <p:nvPr/>
        </p:nvGrpSpPr>
        <p:grpSpPr>
          <a:xfrm flipH="1">
            <a:off x="0" y="0"/>
            <a:ext cx="567782" cy="3306479"/>
            <a:chOff x="11619770" y="-2005"/>
            <a:chExt cx="567782" cy="3306479"/>
          </a:xfrm>
        </p:grpSpPr>
        <p:sp>
          <p:nvSpPr>
            <p:cNvPr id="8" name="Freeform: Shape 7">
              <a:extLst>
                <a:ext uri="{FF2B5EF4-FFF2-40B4-BE49-F238E27FC236}">
                  <a16:creationId xmlns:a16="http://schemas.microsoft.com/office/drawing/2014/main" id="{159433A8-B67D-4675-AFDE-131069A709FC}"/>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27445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25F8D-0421-4AEC-9C40-A13163EC8A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037680-115A-411F-AEF6-4AC2096B4A70}"/>
              </a:ext>
            </a:extLst>
          </p:cNvPr>
          <p:cNvSpPr>
            <a:spLocks noGrp="1"/>
          </p:cNvSpPr>
          <p:nvPr>
            <p:ph idx="1"/>
          </p:nvPr>
        </p:nvSpPr>
        <p:spPr>
          <a:xfrm>
            <a:off x="808662" y="2019299"/>
            <a:ext cx="10357666" cy="4114801"/>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0CC193-1304-4D0F-8331-14D4EC08EFE8}"/>
              </a:ext>
            </a:extLst>
          </p:cNvPr>
          <p:cNvSpPr>
            <a:spLocks noGrp="1"/>
          </p:cNvSpPr>
          <p:nvPr>
            <p:ph type="dt" sz="half" idx="10"/>
          </p:nvPr>
        </p:nvSpPr>
        <p:spPr/>
        <p:txBody>
          <a:bodyPr/>
          <a:lstStyle/>
          <a:p>
            <a:fld id="{E6171E64-FE02-4DE5-B72F-53C3706641C3}" type="datetimeFigureOut">
              <a:rPr lang="en-US" smtClean="0"/>
              <a:t>12/19/2025</a:t>
            </a:fld>
            <a:endParaRPr lang="en-US"/>
          </a:p>
        </p:txBody>
      </p:sp>
      <p:sp>
        <p:nvSpPr>
          <p:cNvPr id="5" name="Footer Placeholder 4">
            <a:extLst>
              <a:ext uri="{FF2B5EF4-FFF2-40B4-BE49-F238E27FC236}">
                <a16:creationId xmlns:a16="http://schemas.microsoft.com/office/drawing/2014/main" id="{0AF455C1-CD32-4050-BAFF-51CC6B62D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AF608-FF11-4CBE-B717-5D56AE67DDE1}"/>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951083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BD23A02E-6DCF-427A-8CFD-281B2185C7F0}"/>
              </a:ext>
            </a:extLst>
          </p:cNvPr>
          <p:cNvSpPr/>
          <p:nvPr/>
        </p:nvSpPr>
        <p:spPr>
          <a:xfrm>
            <a:off x="3242985" y="511814"/>
            <a:ext cx="5706031" cy="5706031"/>
          </a:xfrm>
          <a:prstGeom prst="ellipse">
            <a:avLst/>
          </a:prstGeom>
          <a:solidFill>
            <a:schemeClr val="accent1">
              <a:lumMod val="20000"/>
              <a:lumOff val="80000"/>
            </a:schemeClr>
          </a:solidFill>
          <a:ln>
            <a:noFill/>
          </a:ln>
          <a:effectLst>
            <a:outerShdw dist="165100" dir="2220000" algn="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6B4C32-F19C-44F3-8EF8-1F506D74DD7A}"/>
              </a:ext>
            </a:extLst>
          </p:cNvPr>
          <p:cNvSpPr>
            <a:spLocks noGrp="1"/>
          </p:cNvSpPr>
          <p:nvPr>
            <p:ph type="title"/>
          </p:nvPr>
        </p:nvSpPr>
        <p:spPr>
          <a:xfrm>
            <a:off x="3649192" y="1709738"/>
            <a:ext cx="4893617" cy="2553893"/>
          </a:xfrm>
        </p:spPr>
        <p:txBody>
          <a:bodyPr anchor="b">
            <a:normAutofit/>
          </a:bodyPr>
          <a:lstStyle>
            <a:lvl1pPr algn="ctr">
              <a:defRPr sz="3600"/>
            </a:lvl1pPr>
          </a:lstStyle>
          <a:p>
            <a:r>
              <a:rPr lang="en-US"/>
              <a:t>Click to edit Master title style</a:t>
            </a:r>
          </a:p>
        </p:txBody>
      </p:sp>
      <p:sp>
        <p:nvSpPr>
          <p:cNvPr id="3" name="Text Placeholder 2">
            <a:extLst>
              <a:ext uri="{FF2B5EF4-FFF2-40B4-BE49-F238E27FC236}">
                <a16:creationId xmlns:a16="http://schemas.microsoft.com/office/drawing/2014/main" id="{B0889729-131C-4F78-9DAA-E9EE28EA912F}"/>
              </a:ext>
            </a:extLst>
          </p:cNvPr>
          <p:cNvSpPr>
            <a:spLocks noGrp="1"/>
          </p:cNvSpPr>
          <p:nvPr>
            <p:ph type="body" idx="1"/>
          </p:nvPr>
        </p:nvSpPr>
        <p:spPr>
          <a:xfrm>
            <a:off x="4062249" y="4540468"/>
            <a:ext cx="4067503" cy="1154037"/>
          </a:xfrm>
          <a:prstGeom prst="rect">
            <a:avLst/>
          </a:prstGeom>
        </p:spPr>
        <p:txBody>
          <a:bodyPr>
            <a:normAutofit/>
          </a:bodyPr>
          <a:lstStyle>
            <a:lvl1pPr marL="0" indent="0" algn="ctr">
              <a:buNone/>
              <a:defRPr sz="1600" b="1" cap="all" spc="600" baseline="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24E608-AC1F-41FB-974A-BD619C6C26B5}"/>
              </a:ext>
            </a:extLst>
          </p:cNvPr>
          <p:cNvSpPr>
            <a:spLocks noGrp="1"/>
          </p:cNvSpPr>
          <p:nvPr>
            <p:ph type="dt" sz="half" idx="10"/>
          </p:nvPr>
        </p:nvSpPr>
        <p:spPr/>
        <p:txBody>
          <a:bodyPr/>
          <a:lstStyle/>
          <a:p>
            <a:fld id="{E6171E64-FE02-4DE5-B72F-53C3706641C3}" type="datetimeFigureOut">
              <a:rPr lang="en-US" smtClean="0"/>
              <a:t>12/19/2025</a:t>
            </a:fld>
            <a:endParaRPr lang="en-US"/>
          </a:p>
        </p:txBody>
      </p:sp>
      <p:sp>
        <p:nvSpPr>
          <p:cNvPr id="5" name="Footer Placeholder 4">
            <a:extLst>
              <a:ext uri="{FF2B5EF4-FFF2-40B4-BE49-F238E27FC236}">
                <a16:creationId xmlns:a16="http://schemas.microsoft.com/office/drawing/2014/main" id="{C0986158-8B03-45C3-891D-0357B198B6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3B054-E8A2-43FD-B0FB-B1CCFA4BC0A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483830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4AA7-6D5A-402E-AD1A-880F2BDB7E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D32B6-F9D8-4A43-B52C-336CFAB00A56}"/>
              </a:ext>
            </a:extLst>
          </p:cNvPr>
          <p:cNvSpPr>
            <a:spLocks noGrp="1"/>
          </p:cNvSpPr>
          <p:nvPr>
            <p:ph sz="half" idx="1"/>
          </p:nvPr>
        </p:nvSpPr>
        <p:spPr>
          <a:xfrm>
            <a:off x="812976" y="2019299"/>
            <a:ext cx="4995019"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50CDD9-5742-4A34-BA72-7CCA72D914F4}"/>
              </a:ext>
            </a:extLst>
          </p:cNvPr>
          <p:cNvSpPr>
            <a:spLocks noGrp="1"/>
          </p:cNvSpPr>
          <p:nvPr>
            <p:ph sz="half" idx="2"/>
          </p:nvPr>
        </p:nvSpPr>
        <p:spPr>
          <a:xfrm>
            <a:off x="6293718" y="2019299"/>
            <a:ext cx="5027954"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2783AA-D2AB-4385-A91F-870CB6564611}"/>
              </a:ext>
            </a:extLst>
          </p:cNvPr>
          <p:cNvSpPr>
            <a:spLocks noGrp="1"/>
          </p:cNvSpPr>
          <p:nvPr>
            <p:ph type="dt" sz="half" idx="10"/>
          </p:nvPr>
        </p:nvSpPr>
        <p:spPr/>
        <p:txBody>
          <a:bodyPr/>
          <a:lstStyle/>
          <a:p>
            <a:fld id="{E6171E64-FE02-4DE5-B72F-53C3706641C3}" type="datetimeFigureOut">
              <a:rPr lang="en-US" smtClean="0"/>
              <a:t>12/19/2025</a:t>
            </a:fld>
            <a:endParaRPr lang="en-US"/>
          </a:p>
        </p:txBody>
      </p:sp>
      <p:sp>
        <p:nvSpPr>
          <p:cNvPr id="6" name="Footer Placeholder 5">
            <a:extLst>
              <a:ext uri="{FF2B5EF4-FFF2-40B4-BE49-F238E27FC236}">
                <a16:creationId xmlns:a16="http://schemas.microsoft.com/office/drawing/2014/main" id="{855AAD9C-5CA2-4DA1-84D3-B1838979F6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1AB3C7-9574-47BC-932D-782BEE9989DA}"/>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196558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C468-781B-4BC5-8DEA-B9EF2BF90DD2}"/>
              </a:ext>
            </a:extLst>
          </p:cNvPr>
          <p:cNvSpPr>
            <a:spLocks noGrp="1"/>
          </p:cNvSpPr>
          <p:nvPr>
            <p:ph type="title"/>
          </p:nvPr>
        </p:nvSpPr>
        <p:spPr>
          <a:xfrm>
            <a:off x="811460" y="369168"/>
            <a:ext cx="10458729" cy="1439818"/>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67223F-48E4-491D-AB5D-5FC8A0C566AF}"/>
              </a:ext>
            </a:extLst>
          </p:cNvPr>
          <p:cNvSpPr>
            <a:spLocks noGrp="1"/>
          </p:cNvSpPr>
          <p:nvPr>
            <p:ph type="body" idx="1"/>
          </p:nvPr>
        </p:nvSpPr>
        <p:spPr>
          <a:xfrm>
            <a:off x="800101" y="1843067"/>
            <a:ext cx="5007894"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D6B764-4B87-42FF-ABAA-69B07B88FF40}"/>
              </a:ext>
            </a:extLst>
          </p:cNvPr>
          <p:cNvSpPr>
            <a:spLocks noGrp="1"/>
          </p:cNvSpPr>
          <p:nvPr>
            <p:ph sz="half" idx="2"/>
          </p:nvPr>
        </p:nvSpPr>
        <p:spPr>
          <a:xfrm>
            <a:off x="800101" y="2505075"/>
            <a:ext cx="5007894"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4357B9-406F-4BF9-B8FB-C53421EEF5A6}"/>
              </a:ext>
            </a:extLst>
          </p:cNvPr>
          <p:cNvSpPr>
            <a:spLocks noGrp="1"/>
          </p:cNvSpPr>
          <p:nvPr>
            <p:ph type="body" sz="quarter" idx="3"/>
          </p:nvPr>
        </p:nvSpPr>
        <p:spPr>
          <a:xfrm>
            <a:off x="6276061" y="1843067"/>
            <a:ext cx="4994128"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20462B-1939-4DAA-A7DD-6BDC95054A6E}"/>
              </a:ext>
            </a:extLst>
          </p:cNvPr>
          <p:cNvSpPr>
            <a:spLocks noGrp="1"/>
          </p:cNvSpPr>
          <p:nvPr>
            <p:ph sz="quarter" idx="4"/>
          </p:nvPr>
        </p:nvSpPr>
        <p:spPr>
          <a:xfrm>
            <a:off x="6276061" y="2505075"/>
            <a:ext cx="4994128"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6C938B-C4C2-4FA9-85CA-9CD742CD7523}"/>
              </a:ext>
            </a:extLst>
          </p:cNvPr>
          <p:cNvSpPr>
            <a:spLocks noGrp="1"/>
          </p:cNvSpPr>
          <p:nvPr>
            <p:ph type="dt" sz="half" idx="10"/>
          </p:nvPr>
        </p:nvSpPr>
        <p:spPr/>
        <p:txBody>
          <a:bodyPr/>
          <a:lstStyle/>
          <a:p>
            <a:fld id="{E6171E64-FE02-4DE5-B72F-53C3706641C3}" type="datetimeFigureOut">
              <a:rPr lang="en-US" smtClean="0"/>
              <a:t>12/19/2025</a:t>
            </a:fld>
            <a:endParaRPr lang="en-US"/>
          </a:p>
        </p:txBody>
      </p:sp>
      <p:sp>
        <p:nvSpPr>
          <p:cNvPr id="8" name="Footer Placeholder 7">
            <a:extLst>
              <a:ext uri="{FF2B5EF4-FFF2-40B4-BE49-F238E27FC236}">
                <a16:creationId xmlns:a16="http://schemas.microsoft.com/office/drawing/2014/main" id="{11AD8886-0D28-4D49-8D43-151D37E948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2FDDE8-E9F8-4B6C-9A40-829617A7C84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341953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E3D8-6C35-428B-B2F2-251FDE10BD20}"/>
              </a:ext>
            </a:extLst>
          </p:cNvPr>
          <p:cNvSpPr>
            <a:spLocks noGrp="1"/>
          </p:cNvSpPr>
          <p:nvPr>
            <p:ph type="title"/>
          </p:nvPr>
        </p:nvSpPr>
        <p:spPr>
          <a:xfrm>
            <a:off x="800100" y="983769"/>
            <a:ext cx="10094770" cy="1180574"/>
          </a:xfrm>
          <a:solidFill>
            <a:schemeClr val="accent1">
              <a:lumMod val="20000"/>
              <a:lumOff val="80000"/>
            </a:schemeClr>
          </a:solidFill>
          <a:effectLst>
            <a:outerShdw dist="165100" dir="18900000" algn="bl" rotWithShape="0">
              <a:prstClr val="black"/>
            </a:outerShdw>
          </a:effectLst>
        </p:spPr>
        <p:txBody>
          <a:bodyPr/>
          <a:lstStyle>
            <a:lvl1pPr marL="182880">
              <a:defRPr/>
            </a:lvl1pPr>
          </a:lstStyle>
          <a:p>
            <a:r>
              <a:rPr lang="en-US"/>
              <a:t>Click to edit Master title style</a:t>
            </a:r>
          </a:p>
        </p:txBody>
      </p:sp>
      <p:sp>
        <p:nvSpPr>
          <p:cNvPr id="3" name="Date Placeholder 2">
            <a:extLst>
              <a:ext uri="{FF2B5EF4-FFF2-40B4-BE49-F238E27FC236}">
                <a16:creationId xmlns:a16="http://schemas.microsoft.com/office/drawing/2014/main" id="{4F0B8015-E11A-42CA-AE88-7BD73F87E566}"/>
              </a:ext>
            </a:extLst>
          </p:cNvPr>
          <p:cNvSpPr>
            <a:spLocks noGrp="1"/>
          </p:cNvSpPr>
          <p:nvPr>
            <p:ph type="dt" sz="half" idx="10"/>
          </p:nvPr>
        </p:nvSpPr>
        <p:spPr/>
        <p:txBody>
          <a:bodyPr/>
          <a:lstStyle/>
          <a:p>
            <a:fld id="{E6171E64-FE02-4DE5-B72F-53C3706641C3}" type="datetimeFigureOut">
              <a:rPr lang="en-US" smtClean="0"/>
              <a:t>12/19/2025</a:t>
            </a:fld>
            <a:endParaRPr lang="en-US"/>
          </a:p>
        </p:txBody>
      </p:sp>
      <p:sp>
        <p:nvSpPr>
          <p:cNvPr id="4" name="Footer Placeholder 3">
            <a:extLst>
              <a:ext uri="{FF2B5EF4-FFF2-40B4-BE49-F238E27FC236}">
                <a16:creationId xmlns:a16="http://schemas.microsoft.com/office/drawing/2014/main" id="{07309078-34CA-45CD-B479-03906A265C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D03258-F989-47B2-A643-A60CD8A77BC8}"/>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372646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A2F31-48B6-40CE-A364-3CE73FD859B4}"/>
              </a:ext>
            </a:extLst>
          </p:cNvPr>
          <p:cNvSpPr>
            <a:spLocks noGrp="1"/>
          </p:cNvSpPr>
          <p:nvPr>
            <p:ph type="dt" sz="half" idx="10"/>
          </p:nvPr>
        </p:nvSpPr>
        <p:spPr/>
        <p:txBody>
          <a:bodyPr/>
          <a:lstStyle/>
          <a:p>
            <a:fld id="{E6171E64-FE02-4DE5-B72F-53C3706641C3}" type="datetimeFigureOut">
              <a:rPr lang="en-US" smtClean="0"/>
              <a:t>12/19/2025</a:t>
            </a:fld>
            <a:endParaRPr lang="en-US"/>
          </a:p>
        </p:txBody>
      </p:sp>
      <p:sp>
        <p:nvSpPr>
          <p:cNvPr id="3" name="Footer Placeholder 2">
            <a:extLst>
              <a:ext uri="{FF2B5EF4-FFF2-40B4-BE49-F238E27FC236}">
                <a16:creationId xmlns:a16="http://schemas.microsoft.com/office/drawing/2014/main" id="{117EEA00-F166-41EB-9331-CA99BB70F0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BB051F-F8FC-4FF6-9783-45F9FE7AC302}"/>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566507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08635-A5AF-48F4-8CD2-FB0E01113904}"/>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E6E15E0E-DCC0-4781-A608-962B1241B5AA}"/>
              </a:ext>
            </a:extLst>
          </p:cNvPr>
          <p:cNvSpPr>
            <a:spLocks noGrp="1"/>
          </p:cNvSpPr>
          <p:nvPr>
            <p:ph idx="1"/>
          </p:nvPr>
        </p:nvSpPr>
        <p:spPr>
          <a:xfrm>
            <a:off x="5309826" y="987425"/>
            <a:ext cx="6045562"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F43E-3D50-4A1C-A289-B3D0DD0E710F}"/>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70E3A-6639-4EA0-8305-C1899DAB49EB}"/>
              </a:ext>
            </a:extLst>
          </p:cNvPr>
          <p:cNvSpPr>
            <a:spLocks noGrp="1"/>
          </p:cNvSpPr>
          <p:nvPr>
            <p:ph type="dt" sz="half" idx="10"/>
          </p:nvPr>
        </p:nvSpPr>
        <p:spPr/>
        <p:txBody>
          <a:bodyPr/>
          <a:lstStyle/>
          <a:p>
            <a:fld id="{E6171E64-FE02-4DE5-B72F-53C3706641C3}" type="datetimeFigureOut">
              <a:rPr lang="en-US" smtClean="0"/>
              <a:t>12/19/2025</a:t>
            </a:fld>
            <a:endParaRPr lang="en-US"/>
          </a:p>
        </p:txBody>
      </p:sp>
      <p:sp>
        <p:nvSpPr>
          <p:cNvPr id="6" name="Footer Placeholder 5">
            <a:extLst>
              <a:ext uri="{FF2B5EF4-FFF2-40B4-BE49-F238E27FC236}">
                <a16:creationId xmlns:a16="http://schemas.microsoft.com/office/drawing/2014/main" id="{5B6AFD57-4189-42FB-B29E-96366E51B4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5E2EC-8483-4FBC-9D29-C19025FA8F97}"/>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492495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E581-A090-4AE9-9965-B06BDB52BD95}"/>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9839DEF4-262F-4ACF-9B29-3D4B819E7065}"/>
              </a:ext>
            </a:extLst>
          </p:cNvPr>
          <p:cNvSpPr>
            <a:spLocks noGrp="1"/>
          </p:cNvSpPr>
          <p:nvPr>
            <p:ph type="pic" idx="1"/>
          </p:nvPr>
        </p:nvSpPr>
        <p:spPr>
          <a:xfrm>
            <a:off x="5353969" y="987425"/>
            <a:ext cx="5694503"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4ED7CBB-7A6F-441E-9072-2494B952FA8B}"/>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159692-77BE-4A7D-AA70-635007A6E92C}"/>
              </a:ext>
            </a:extLst>
          </p:cNvPr>
          <p:cNvSpPr>
            <a:spLocks noGrp="1"/>
          </p:cNvSpPr>
          <p:nvPr>
            <p:ph type="dt" sz="half" idx="10"/>
          </p:nvPr>
        </p:nvSpPr>
        <p:spPr/>
        <p:txBody>
          <a:bodyPr/>
          <a:lstStyle/>
          <a:p>
            <a:fld id="{E6171E64-FE02-4DE5-B72F-53C3706641C3}" type="datetimeFigureOut">
              <a:rPr lang="en-US" smtClean="0"/>
              <a:t>12/19/2025</a:t>
            </a:fld>
            <a:endParaRPr lang="en-US"/>
          </a:p>
        </p:txBody>
      </p:sp>
      <p:sp>
        <p:nvSpPr>
          <p:cNvPr id="6" name="Footer Placeholder 5">
            <a:extLst>
              <a:ext uri="{FF2B5EF4-FFF2-40B4-BE49-F238E27FC236}">
                <a16:creationId xmlns:a16="http://schemas.microsoft.com/office/drawing/2014/main" id="{FBB9A4DA-63AF-4D6A-98DB-E1D0AC741E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6B7958-B19B-4C23-A82F-DD4E4B912B29}"/>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3187776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58AD-1CAD-45B3-B83D-DC9D33CD61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153F2E-0397-4423-8A88-D0059DEAF0CE}"/>
              </a:ext>
            </a:extLst>
          </p:cNvPr>
          <p:cNvSpPr>
            <a:spLocks noGrp="1"/>
          </p:cNvSpPr>
          <p:nvPr>
            <p:ph type="body" orient="vert" idx="1"/>
          </p:nvPr>
        </p:nvSpPr>
        <p:spPr>
          <a:xfrm>
            <a:off x="808662" y="2019299"/>
            <a:ext cx="10357666" cy="4114801"/>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ADDE1-7025-4FA9-822D-481685085490}"/>
              </a:ext>
            </a:extLst>
          </p:cNvPr>
          <p:cNvSpPr>
            <a:spLocks noGrp="1"/>
          </p:cNvSpPr>
          <p:nvPr>
            <p:ph type="dt" sz="half" idx="10"/>
          </p:nvPr>
        </p:nvSpPr>
        <p:spPr/>
        <p:txBody>
          <a:bodyPr/>
          <a:lstStyle/>
          <a:p>
            <a:fld id="{E6171E64-FE02-4DE5-B72F-53C3706641C3}" type="datetimeFigureOut">
              <a:rPr lang="en-US" smtClean="0"/>
              <a:t>12/19/2025</a:t>
            </a:fld>
            <a:endParaRPr lang="en-US"/>
          </a:p>
        </p:txBody>
      </p:sp>
      <p:sp>
        <p:nvSpPr>
          <p:cNvPr id="5" name="Footer Placeholder 4">
            <a:extLst>
              <a:ext uri="{FF2B5EF4-FFF2-40B4-BE49-F238E27FC236}">
                <a16:creationId xmlns:a16="http://schemas.microsoft.com/office/drawing/2014/main" id="{6B2A73E0-F328-46DC-98BE-CA0981F75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52226-010C-494F-8BE8-BF91F3553DD5}"/>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9F89E9C4-9D18-4529-BC0C-68EAE507CDF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D7DF5937-0C03-4786-AB62-3CF7CECB92D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9AD93DB-2DB0-4B2D-884B-6EC45344325B}"/>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57244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C635D0-31D9-44E1-911D-F7D5D5400992}"/>
              </a:ext>
            </a:extLst>
          </p:cNvPr>
          <p:cNvSpPr>
            <a:spLocks noGrp="1"/>
          </p:cNvSpPr>
          <p:nvPr>
            <p:ph type="title" orient="vert"/>
          </p:nvPr>
        </p:nvSpPr>
        <p:spPr>
          <a:xfrm>
            <a:off x="8853914" y="624313"/>
            <a:ext cx="2537986" cy="55097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7F9230-1FA4-439D-A800-B5F006F07C0D}"/>
              </a:ext>
            </a:extLst>
          </p:cNvPr>
          <p:cNvSpPr>
            <a:spLocks noGrp="1"/>
          </p:cNvSpPr>
          <p:nvPr>
            <p:ph type="body" orient="vert" idx="1"/>
          </p:nvPr>
        </p:nvSpPr>
        <p:spPr>
          <a:xfrm>
            <a:off x="800100" y="624313"/>
            <a:ext cx="7816542" cy="55097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AB2A3-7055-43AF-8BAB-0A9B7444867A}"/>
              </a:ext>
            </a:extLst>
          </p:cNvPr>
          <p:cNvSpPr>
            <a:spLocks noGrp="1"/>
          </p:cNvSpPr>
          <p:nvPr>
            <p:ph type="dt" sz="half" idx="10"/>
          </p:nvPr>
        </p:nvSpPr>
        <p:spPr/>
        <p:txBody>
          <a:bodyPr/>
          <a:lstStyle/>
          <a:p>
            <a:fld id="{E6171E64-FE02-4DE5-B72F-53C3706641C3}" type="datetimeFigureOut">
              <a:rPr lang="en-US" smtClean="0"/>
              <a:t>12/19/2025</a:t>
            </a:fld>
            <a:endParaRPr lang="en-US"/>
          </a:p>
        </p:txBody>
      </p:sp>
      <p:sp>
        <p:nvSpPr>
          <p:cNvPr id="5" name="Footer Placeholder 4">
            <a:extLst>
              <a:ext uri="{FF2B5EF4-FFF2-40B4-BE49-F238E27FC236}">
                <a16:creationId xmlns:a16="http://schemas.microsoft.com/office/drawing/2014/main" id="{EE9A1821-A311-49CD-BCB4-B4BC88661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7C6A8-813A-486A-AA90-AB28935F2B4F}"/>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38C7A17-06CC-442C-A876-A51B2B55650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54C1798A-2980-4F34-8355-7BCB6B295322}"/>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59D7542C-E4AE-488F-BC75-2E7ED83910CE}"/>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56503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86DAE1-1F65-43B8-A400-95E6DEEDCDFC}"/>
              </a:ext>
            </a:extLst>
          </p:cNvPr>
          <p:cNvSpPr>
            <a:spLocks noGrp="1"/>
          </p:cNvSpPr>
          <p:nvPr>
            <p:ph type="title"/>
          </p:nvPr>
        </p:nvSpPr>
        <p:spPr>
          <a:xfrm>
            <a:off x="808661" y="365125"/>
            <a:ext cx="10357666" cy="143845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2D75C993-A44B-4C2D-818E-4C9000BB05C1}"/>
              </a:ext>
            </a:extLst>
          </p:cNvPr>
          <p:cNvSpPr>
            <a:spLocks noGrp="1"/>
          </p:cNvSpPr>
          <p:nvPr>
            <p:ph type="body" idx="1"/>
          </p:nvPr>
        </p:nvSpPr>
        <p:spPr>
          <a:xfrm>
            <a:off x="808662" y="2019299"/>
            <a:ext cx="10357666"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21B6E-ECC6-47D0-9C14-812B746F1563}"/>
              </a:ext>
            </a:extLst>
          </p:cNvPr>
          <p:cNvSpPr>
            <a:spLocks noGrp="1"/>
          </p:cNvSpPr>
          <p:nvPr>
            <p:ph type="dt" sz="half" idx="2"/>
          </p:nvPr>
        </p:nvSpPr>
        <p:spPr>
          <a:xfrm>
            <a:off x="795014" y="6342042"/>
            <a:ext cx="2743200" cy="365125"/>
          </a:xfrm>
          <a:prstGeom prst="rect">
            <a:avLst/>
          </a:prstGeom>
        </p:spPr>
        <p:txBody>
          <a:bodyPr vert="horz" lIns="91440" tIns="45720" rIns="91440" bIns="45720" rtlCol="0" anchor="ctr"/>
          <a:lstStyle>
            <a:lvl1pPr algn="l">
              <a:defRPr sz="1000" spc="100" baseline="0">
                <a:solidFill>
                  <a:schemeClr val="tx1"/>
                </a:solidFill>
              </a:defRPr>
            </a:lvl1pPr>
          </a:lstStyle>
          <a:p>
            <a:fld id="{E6171E64-FE02-4DE5-B72F-53C3706641C3}" type="datetimeFigureOut">
              <a:rPr lang="en-US" smtClean="0"/>
              <a:t>12/19/2025</a:t>
            </a:fld>
            <a:endParaRPr lang="en-US"/>
          </a:p>
        </p:txBody>
      </p:sp>
      <p:sp>
        <p:nvSpPr>
          <p:cNvPr id="5" name="Footer Placeholder 4">
            <a:extLst>
              <a:ext uri="{FF2B5EF4-FFF2-40B4-BE49-F238E27FC236}">
                <a16:creationId xmlns:a16="http://schemas.microsoft.com/office/drawing/2014/main" id="{5209A716-DEA9-48A9-A5BC-0F392D2B49AC}"/>
              </a:ext>
            </a:extLst>
          </p:cNvPr>
          <p:cNvSpPr>
            <a:spLocks noGrp="1"/>
          </p:cNvSpPr>
          <p:nvPr>
            <p:ph type="ftr" sz="quarter" idx="3"/>
          </p:nvPr>
        </p:nvSpPr>
        <p:spPr>
          <a:xfrm>
            <a:off x="7696200" y="6342042"/>
            <a:ext cx="3470128" cy="365125"/>
          </a:xfrm>
          <a:prstGeom prst="rect">
            <a:avLst/>
          </a:prstGeom>
        </p:spPr>
        <p:txBody>
          <a:bodyPr vert="horz" lIns="91440" tIns="45720" rIns="91440" bIns="45720" rtlCol="0" anchor="ctr"/>
          <a:lstStyle>
            <a:lvl1pPr algn="r">
              <a:defRPr sz="1000" spc="5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C09CB69E-A0E4-4558-9C62-4CD8CDD2A501}"/>
              </a:ext>
            </a:extLst>
          </p:cNvPr>
          <p:cNvSpPr>
            <a:spLocks noGrp="1"/>
          </p:cNvSpPr>
          <p:nvPr>
            <p:ph type="sldNum" sz="quarter" idx="4"/>
          </p:nvPr>
        </p:nvSpPr>
        <p:spPr>
          <a:xfrm>
            <a:off x="11166329" y="6342042"/>
            <a:ext cx="526228" cy="365125"/>
          </a:xfrm>
          <a:prstGeom prst="rect">
            <a:avLst/>
          </a:prstGeom>
        </p:spPr>
        <p:txBody>
          <a:bodyPr vert="horz" lIns="91440" tIns="45720" rIns="91440" bIns="45720" rtlCol="0" anchor="ctr"/>
          <a:lstStyle>
            <a:lvl1pPr algn="r">
              <a:defRPr sz="1000" spc="100" baseline="0">
                <a:solidFill>
                  <a:schemeClr val="tx1"/>
                </a:solidFill>
              </a:defRPr>
            </a:lvl1p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EB6ECC43-D65E-4A7B-A76B-D278A2184166}"/>
              </a:ext>
            </a:extLst>
          </p:cNvPr>
          <p:cNvGrpSpPr/>
          <p:nvPr/>
        </p:nvGrpSpPr>
        <p:grpSpPr>
          <a:xfrm flipV="1">
            <a:off x="11626076" y="3551521"/>
            <a:ext cx="567782" cy="3306479"/>
            <a:chOff x="11619770" y="-2005"/>
            <a:chExt cx="567782" cy="3306479"/>
          </a:xfrm>
        </p:grpSpPr>
        <p:sp>
          <p:nvSpPr>
            <p:cNvPr id="8" name="Freeform: Shape 7">
              <a:extLst>
                <a:ext uri="{FF2B5EF4-FFF2-40B4-BE49-F238E27FC236}">
                  <a16:creationId xmlns:a16="http://schemas.microsoft.com/office/drawing/2014/main" id="{7EE443C5-5AB9-407B-A8C3-011BB14FEF0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13">
                <a:extLst>
                  <a:ext uri="{96DAC541-7B7A-43D3-8B79-37D633B846F1}">
                    <asvg:svgBlip xmlns:asvg="http://schemas.microsoft.com/office/drawing/2016/SVG/main" r:embed="rId1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4538C9FA-DA5E-4785-8F4A-CA481A3A6526}"/>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80984313"/>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40" r:id="rId7"/>
    <p:sldLayoutId id="2147483736" r:id="rId8"/>
    <p:sldLayoutId id="2147483737" r:id="rId9"/>
    <p:sldLayoutId id="2147483738" r:id="rId10"/>
    <p:sldLayoutId id="2147483739" r:id="rId11"/>
  </p:sldLayoutIdLst>
  <p:txStyles>
    <p:titleStyle>
      <a:lvl1pPr algn="l" defTabSz="914400" rtl="0" eaLnBrk="1" latinLnBrk="0" hangingPunct="1">
        <a:lnSpc>
          <a:spcPct val="120000"/>
        </a:lnSpc>
        <a:spcBef>
          <a:spcPct val="0"/>
        </a:spcBef>
        <a:buNone/>
        <a:defRPr sz="320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SzPct val="85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SzPct val="10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SzPct val="85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SzPct val="100000"/>
        <a:buFont typeface="Avenir Next LT Pro Light" panose="020B0304020202020204" pitchFamily="34" charset="0"/>
        <a:buChar char="–"/>
        <a:defRPr sz="1400" kern="1200">
          <a:solidFill>
            <a:schemeClr val="tx1"/>
          </a:solidFill>
          <a:latin typeface="+mn-lt"/>
          <a:ea typeface="+mn-ea"/>
          <a:cs typeface="+mn-cs"/>
        </a:defRPr>
      </a:lvl4pPr>
      <a:lvl5pPr marL="1188720" indent="-22860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599224A-F219-4DF9-8183-F7C098A5CE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B5D374-B424-69C6-D02C-D45E7A005FB8}"/>
              </a:ext>
            </a:extLst>
          </p:cNvPr>
          <p:cNvPicPr>
            <a:picLocks noChangeAspect="1"/>
          </p:cNvPicPr>
          <p:nvPr/>
        </p:nvPicPr>
        <p:blipFill>
          <a:blip r:embed="rId2"/>
          <a:srcRect t="18864" r="-2" b="6135"/>
          <a:stretch>
            <a:fillRect/>
          </a:stretch>
        </p:blipFill>
        <p:spPr>
          <a:xfrm>
            <a:off x="20" y="10"/>
            <a:ext cx="12191980" cy="6857990"/>
          </a:xfrm>
          <a:prstGeom prst="rect">
            <a:avLst/>
          </a:prstGeom>
        </p:spPr>
      </p:pic>
      <p:sp>
        <p:nvSpPr>
          <p:cNvPr id="11" name="Oval 10">
            <a:extLst>
              <a:ext uri="{FF2B5EF4-FFF2-40B4-BE49-F238E27FC236}">
                <a16:creationId xmlns:a16="http://schemas.microsoft.com/office/drawing/2014/main" id="{CC3B9006-4406-4E2F-8B42-6A968FCC89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0993" y="1165193"/>
            <a:ext cx="4527613" cy="4527613"/>
          </a:xfrm>
          <a:prstGeom prst="ellipse">
            <a:avLst/>
          </a:prstGeom>
          <a:solidFill>
            <a:schemeClr val="accent1">
              <a:lumMod val="20000"/>
              <a:lumOff val="80000"/>
            </a:schemeClr>
          </a:solidFill>
          <a:ln>
            <a:noFill/>
          </a:ln>
          <a:effectLst>
            <a:outerShdw dist="165100" dir="8100000" algn="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36E595-05FC-B93A-D28A-14F55DDEAF3D}"/>
              </a:ext>
            </a:extLst>
          </p:cNvPr>
          <p:cNvSpPr>
            <a:spLocks noGrp="1"/>
          </p:cNvSpPr>
          <p:nvPr>
            <p:ph type="ctrTitle"/>
          </p:nvPr>
        </p:nvSpPr>
        <p:spPr>
          <a:xfrm>
            <a:off x="1238626" y="1981199"/>
            <a:ext cx="4192348" cy="905935"/>
          </a:xfrm>
        </p:spPr>
        <p:txBody>
          <a:bodyPr>
            <a:normAutofit/>
          </a:bodyPr>
          <a:lstStyle/>
          <a:p>
            <a:pPr algn="ctr"/>
            <a:r>
              <a:rPr lang="en-SG" sz="3200" b="1">
                <a:solidFill>
                  <a:srgbClr val="000000"/>
                </a:solidFill>
              </a:rPr>
              <a:t>Lab 2</a:t>
            </a:r>
          </a:p>
        </p:txBody>
      </p:sp>
      <p:sp>
        <p:nvSpPr>
          <p:cNvPr id="3" name="Subtitle 2">
            <a:extLst>
              <a:ext uri="{FF2B5EF4-FFF2-40B4-BE49-F238E27FC236}">
                <a16:creationId xmlns:a16="http://schemas.microsoft.com/office/drawing/2014/main" id="{EF888677-8FA4-4C2B-20DC-0B33D0D209C9}"/>
              </a:ext>
            </a:extLst>
          </p:cNvPr>
          <p:cNvSpPr>
            <a:spLocks noGrp="1"/>
          </p:cNvSpPr>
          <p:nvPr>
            <p:ph type="subTitle" idx="1"/>
          </p:nvPr>
        </p:nvSpPr>
        <p:spPr>
          <a:xfrm>
            <a:off x="1571465" y="3270310"/>
            <a:ext cx="4029757" cy="1899705"/>
          </a:xfrm>
        </p:spPr>
        <p:txBody>
          <a:bodyPr vert="horz" lIns="91440" tIns="45720" rIns="91440" bIns="45720" rtlCol="0" anchor="t">
            <a:normAutofit/>
          </a:bodyPr>
          <a:lstStyle/>
          <a:p>
            <a:pPr>
              <a:lnSpc>
                <a:spcPct val="110000"/>
              </a:lnSpc>
            </a:pPr>
            <a:r>
              <a:rPr lang="en-US">
                <a:latin typeface="Roboto"/>
                <a:ea typeface="Roboto"/>
                <a:cs typeface="Roboto"/>
              </a:rPr>
              <a:t>Team 5: </a:t>
            </a:r>
          </a:p>
          <a:p>
            <a:pPr marL="285750" indent="-285750">
              <a:lnSpc>
                <a:spcPct val="110000"/>
              </a:lnSpc>
              <a:buChar char="•"/>
            </a:pPr>
            <a:r>
              <a:rPr lang="en-US">
                <a:latin typeface="Roboto"/>
                <a:ea typeface="Roboto"/>
                <a:cs typeface="Roboto"/>
              </a:rPr>
              <a:t>KUS AHMET BUGRA</a:t>
            </a:r>
          </a:p>
          <a:p>
            <a:pPr marL="285750" indent="-285750">
              <a:lnSpc>
                <a:spcPct val="110000"/>
              </a:lnSpc>
              <a:buChar char="•"/>
            </a:pPr>
            <a:r>
              <a:rPr lang="en-US">
                <a:latin typeface="Roboto"/>
                <a:ea typeface="Roboto"/>
                <a:cs typeface="Roboto"/>
              </a:rPr>
              <a:t>LEE TENG YEE SHERILYN</a:t>
            </a:r>
          </a:p>
          <a:p>
            <a:pPr marL="285750" indent="-285750">
              <a:lnSpc>
                <a:spcPct val="110000"/>
              </a:lnSpc>
              <a:buChar char="•"/>
            </a:pPr>
            <a:r>
              <a:rPr lang="en-US">
                <a:latin typeface="Roboto"/>
                <a:ea typeface="Roboto"/>
                <a:cs typeface="Roboto"/>
              </a:rPr>
              <a:t>LEE ZHENG JIE </a:t>
            </a:r>
            <a:endParaRPr lang="en-SG">
              <a:latin typeface="Roboto"/>
              <a:ea typeface="Roboto"/>
              <a:cs typeface="Roboto"/>
            </a:endParaRPr>
          </a:p>
        </p:txBody>
      </p:sp>
    </p:spTree>
    <p:extLst>
      <p:ext uri="{BB962C8B-B14F-4D97-AF65-F5344CB8AC3E}">
        <p14:creationId xmlns:p14="http://schemas.microsoft.com/office/powerpoint/2010/main" val="2311527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90A93-81CC-6DC2-6D2E-7DFCD4A5EA19}"/>
              </a:ext>
            </a:extLst>
          </p:cNvPr>
          <p:cNvSpPr>
            <a:spLocks noGrp="1"/>
          </p:cNvSpPr>
          <p:nvPr>
            <p:ph type="title"/>
          </p:nvPr>
        </p:nvSpPr>
        <p:spPr>
          <a:xfrm>
            <a:off x="808661" y="278861"/>
            <a:ext cx="10357666" cy="1438450"/>
          </a:xfrm>
        </p:spPr>
        <p:txBody>
          <a:bodyPr/>
          <a:lstStyle/>
          <a:p>
            <a:r>
              <a:rPr lang="en-US"/>
              <a:t>Content</a:t>
            </a:r>
          </a:p>
        </p:txBody>
      </p:sp>
      <p:sp>
        <p:nvSpPr>
          <p:cNvPr id="3" name="Content Placeholder 2">
            <a:extLst>
              <a:ext uri="{FF2B5EF4-FFF2-40B4-BE49-F238E27FC236}">
                <a16:creationId xmlns:a16="http://schemas.microsoft.com/office/drawing/2014/main" id="{5C49473D-5A96-AD04-5BB1-B8BB1C63F804}"/>
              </a:ext>
            </a:extLst>
          </p:cNvPr>
          <p:cNvSpPr>
            <a:spLocks noGrp="1"/>
          </p:cNvSpPr>
          <p:nvPr>
            <p:ph idx="1"/>
          </p:nvPr>
        </p:nvSpPr>
        <p:spPr>
          <a:xfrm>
            <a:off x="808662" y="2019299"/>
            <a:ext cx="10357666" cy="4560499"/>
          </a:xfrm>
        </p:spPr>
        <p:txBody>
          <a:bodyPr vert="horz" lIns="91440" tIns="45720" rIns="91440" bIns="45720" rtlCol="0" anchor="t">
            <a:normAutofit lnSpcReduction="10000"/>
          </a:bodyPr>
          <a:lstStyle/>
          <a:p>
            <a:r>
              <a:rPr lang="en-US">
                <a:latin typeface="Open Sans"/>
                <a:ea typeface="Open Sans"/>
                <a:cs typeface="Open Sans"/>
              </a:rPr>
              <a:t>(a) Suppose the input graph G = (V, E) is stored in an adjacency matrix and we</a:t>
            </a:r>
            <a:br>
              <a:rPr lang="en-US">
                <a:latin typeface="Open Sans"/>
                <a:ea typeface="Open Sans"/>
                <a:cs typeface="Open Sans"/>
              </a:rPr>
            </a:br>
            <a:r>
              <a:rPr lang="en-US">
                <a:latin typeface="Open Sans"/>
                <a:ea typeface="Open Sans"/>
                <a:cs typeface="Open Sans"/>
              </a:rPr>
              <a:t>use an array for the priority queue. Implement the Dijkstra’s algorithm using this</a:t>
            </a:r>
            <a:br>
              <a:rPr lang="en-US">
                <a:latin typeface="Open Sans"/>
                <a:ea typeface="Open Sans"/>
                <a:cs typeface="Open Sans"/>
              </a:rPr>
            </a:br>
            <a:r>
              <a:rPr lang="en-US">
                <a:latin typeface="Open Sans"/>
                <a:ea typeface="Open Sans"/>
                <a:cs typeface="Open Sans"/>
              </a:rPr>
              <a:t>setting and analyze its time complexity with respect to |V| and |E| both</a:t>
            </a:r>
            <a:br>
              <a:rPr lang="en-US">
                <a:latin typeface="Open Sans"/>
                <a:ea typeface="Open Sans"/>
                <a:cs typeface="Open Sans"/>
              </a:rPr>
            </a:br>
            <a:r>
              <a:rPr lang="en-US">
                <a:latin typeface="Open Sans"/>
                <a:ea typeface="Open Sans"/>
                <a:cs typeface="Open Sans"/>
              </a:rPr>
              <a:t>theoretically and empirically.</a:t>
            </a:r>
            <a:endParaRPr lang="en-US">
              <a:latin typeface="Avenir Next LT Pro Light"/>
              <a:ea typeface="Open Sans"/>
              <a:cs typeface="Open Sans"/>
            </a:endParaRPr>
          </a:p>
          <a:p>
            <a:r>
              <a:rPr lang="en-US">
                <a:latin typeface="Open Sans"/>
                <a:ea typeface="Open Sans"/>
                <a:cs typeface="Open Sans"/>
              </a:rPr>
              <a:t>(b) Suppose the input graph G = (V, E) is stored in an array of adjacency lists and</a:t>
            </a:r>
            <a:br>
              <a:rPr lang="en-US">
                <a:latin typeface="Open Sans"/>
                <a:ea typeface="Open Sans"/>
                <a:cs typeface="Open Sans"/>
              </a:rPr>
            </a:br>
            <a:r>
              <a:rPr lang="en-US">
                <a:latin typeface="Open Sans"/>
                <a:ea typeface="Open Sans"/>
                <a:cs typeface="Open Sans"/>
              </a:rPr>
              <a:t>we use a minimizing heap for the priority queue. Implement the Dijkstra’s</a:t>
            </a:r>
            <a:br>
              <a:rPr lang="en-US">
                <a:latin typeface="Open Sans"/>
                <a:ea typeface="Open Sans"/>
                <a:cs typeface="Open Sans"/>
              </a:rPr>
            </a:br>
            <a:r>
              <a:rPr lang="en-US">
                <a:latin typeface="Open Sans"/>
                <a:ea typeface="Open Sans"/>
                <a:cs typeface="Open Sans"/>
              </a:rPr>
              <a:t>algorithm using this setting and analyze its time complexity with respect to |V|</a:t>
            </a:r>
            <a:br>
              <a:rPr lang="en-US">
                <a:latin typeface="Open Sans"/>
                <a:ea typeface="Open Sans"/>
                <a:cs typeface="Open Sans"/>
              </a:rPr>
            </a:br>
            <a:r>
              <a:rPr lang="en-US">
                <a:latin typeface="Open Sans"/>
                <a:ea typeface="Open Sans"/>
                <a:cs typeface="Open Sans"/>
              </a:rPr>
              <a:t>and |E| both theoretically and empirically.</a:t>
            </a:r>
            <a:endParaRPr lang="en-US">
              <a:latin typeface="Avenir Next LT Pro Light"/>
              <a:ea typeface="Open Sans"/>
              <a:cs typeface="Open Sans"/>
            </a:endParaRPr>
          </a:p>
          <a:p>
            <a:r>
              <a:rPr lang="en-US">
                <a:latin typeface="Open Sans"/>
                <a:ea typeface="Open Sans"/>
                <a:cs typeface="Open Sans"/>
              </a:rPr>
              <a:t>(c) Compare the two implementations in (a) and (b). Discuss which implementation</a:t>
            </a:r>
            <a:br>
              <a:rPr lang="en-US">
                <a:latin typeface="Open Sans"/>
                <a:ea typeface="Open Sans"/>
                <a:cs typeface="Open Sans"/>
              </a:rPr>
            </a:br>
            <a:r>
              <a:rPr lang="en-US">
                <a:latin typeface="Open Sans"/>
                <a:ea typeface="Open Sans"/>
                <a:cs typeface="Open Sans"/>
              </a:rPr>
              <a:t>is better and in what circumstances.</a:t>
            </a:r>
            <a:br>
              <a:rPr lang="en-US"/>
            </a:br>
            <a:endParaRPr lang="en-US"/>
          </a:p>
        </p:txBody>
      </p:sp>
    </p:spTree>
    <p:extLst>
      <p:ext uri="{BB962C8B-B14F-4D97-AF65-F5344CB8AC3E}">
        <p14:creationId xmlns:p14="http://schemas.microsoft.com/office/powerpoint/2010/main" val="1691718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0228F-3227-A3B2-1AE5-728809603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3BE33-2321-B675-5FE0-F5C3860C37C3}"/>
              </a:ext>
            </a:extLst>
          </p:cNvPr>
          <p:cNvSpPr>
            <a:spLocks noGrp="1"/>
          </p:cNvSpPr>
          <p:nvPr>
            <p:ph type="title"/>
          </p:nvPr>
        </p:nvSpPr>
        <p:spPr>
          <a:xfrm>
            <a:off x="4943154" y="2759285"/>
            <a:ext cx="2305693" cy="914874"/>
          </a:xfrm>
        </p:spPr>
        <p:txBody>
          <a:bodyPr vert="horz" lIns="91440" tIns="45720" rIns="91440" bIns="45720" rtlCol="0" anchor="b">
            <a:noAutofit/>
          </a:bodyPr>
          <a:lstStyle/>
          <a:p>
            <a:r>
              <a:rPr lang="en-US" sz="2400" b="1">
                <a:latin typeface="Open Sans"/>
                <a:ea typeface="Open Sans"/>
                <a:cs typeface="Open Sans"/>
              </a:rPr>
              <a:t>Part (A)</a:t>
            </a:r>
          </a:p>
        </p:txBody>
      </p:sp>
    </p:spTree>
    <p:extLst>
      <p:ext uri="{BB962C8B-B14F-4D97-AF65-F5344CB8AC3E}">
        <p14:creationId xmlns:p14="http://schemas.microsoft.com/office/powerpoint/2010/main" val="3578108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5E4F5-83EC-C226-BDB0-45EFA169BBF4}"/>
              </a:ext>
            </a:extLst>
          </p:cNvPr>
          <p:cNvSpPr>
            <a:spLocks noGrp="1"/>
          </p:cNvSpPr>
          <p:nvPr>
            <p:ph type="title"/>
          </p:nvPr>
        </p:nvSpPr>
        <p:spPr>
          <a:xfrm>
            <a:off x="808661" y="365125"/>
            <a:ext cx="10357666" cy="1216200"/>
          </a:xfrm>
        </p:spPr>
        <p:txBody>
          <a:bodyPr/>
          <a:lstStyle/>
          <a:p>
            <a:r>
              <a:rPr lang="en-US">
                <a:ea typeface="+mj-lt"/>
                <a:cs typeface="+mj-lt"/>
              </a:rPr>
              <a:t>Algorithm Setup</a:t>
            </a:r>
            <a:endParaRPr lang="en-US"/>
          </a:p>
        </p:txBody>
      </p:sp>
      <p:sp>
        <p:nvSpPr>
          <p:cNvPr id="3" name="Content Placeholder 2">
            <a:extLst>
              <a:ext uri="{FF2B5EF4-FFF2-40B4-BE49-F238E27FC236}">
                <a16:creationId xmlns:a16="http://schemas.microsoft.com/office/drawing/2014/main" id="{E4CE66B3-C7A8-17DE-8384-1CD2AE7EA4A8}"/>
              </a:ext>
            </a:extLst>
          </p:cNvPr>
          <p:cNvSpPr>
            <a:spLocks noGrp="1"/>
          </p:cNvSpPr>
          <p:nvPr>
            <p:ph idx="1"/>
          </p:nvPr>
        </p:nvSpPr>
        <p:spPr/>
        <p:txBody>
          <a:bodyPr vert="horz" lIns="91440" tIns="45720" rIns="91440" bIns="45720" rtlCol="0" anchor="t">
            <a:normAutofit/>
          </a:bodyPr>
          <a:lstStyle/>
          <a:p>
            <a:pPr marL="0" indent="0">
              <a:buNone/>
            </a:pPr>
            <a:r>
              <a:rPr lang="en-US">
                <a:ea typeface="+mj-lt"/>
                <a:cs typeface="+mj-lt"/>
              </a:rPr>
              <a:t>• Input Graph: G = (V, E)</a:t>
            </a:r>
            <a:endParaRPr lang="en-US"/>
          </a:p>
          <a:p>
            <a:pPr marL="0" indent="0">
              <a:buNone/>
            </a:pPr>
            <a:r>
              <a:rPr lang="en-US">
                <a:ea typeface="+mj-lt"/>
                <a:cs typeface="+mj-lt"/>
              </a:rPr>
              <a:t>• Representation: Adjacency Matrix (|V| × |V|)</a:t>
            </a:r>
          </a:p>
          <a:p>
            <a:pPr marL="0" indent="0">
              <a:buNone/>
            </a:pPr>
            <a:r>
              <a:rPr lang="en-US">
                <a:ea typeface="+mj-lt"/>
                <a:cs typeface="+mj-lt"/>
              </a:rPr>
              <a:t>• Priority Queue: Array-based implementation</a:t>
            </a:r>
          </a:p>
          <a:p>
            <a:pPr marL="0" indent="0">
              <a:buNone/>
            </a:pPr>
            <a:r>
              <a:rPr lang="en-US">
                <a:ea typeface="+mj-lt"/>
                <a:cs typeface="+mj-lt"/>
              </a:rPr>
              <a:t>• Goal: Compute the shortest path from a source vertex to all others</a:t>
            </a:r>
          </a:p>
          <a:p>
            <a:endParaRPr lang="en-US"/>
          </a:p>
        </p:txBody>
      </p:sp>
    </p:spTree>
    <p:extLst>
      <p:ext uri="{BB962C8B-B14F-4D97-AF65-F5344CB8AC3E}">
        <p14:creationId xmlns:p14="http://schemas.microsoft.com/office/powerpoint/2010/main" val="869669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72A81-1906-D07F-DF84-FFD6A63CB6D2}"/>
              </a:ext>
            </a:extLst>
          </p:cNvPr>
          <p:cNvSpPr>
            <a:spLocks noGrp="1"/>
          </p:cNvSpPr>
          <p:nvPr>
            <p:ph type="title"/>
          </p:nvPr>
        </p:nvSpPr>
        <p:spPr>
          <a:xfrm>
            <a:off x="808661" y="365125"/>
            <a:ext cx="10357666" cy="1428681"/>
          </a:xfrm>
        </p:spPr>
        <p:txBody>
          <a:bodyPr/>
          <a:lstStyle/>
          <a:p>
            <a:r>
              <a:rPr lang="en-US">
                <a:ea typeface="+mj-lt"/>
                <a:cs typeface="+mj-lt"/>
              </a:rPr>
              <a:t>Initialization</a:t>
            </a:r>
            <a:endParaRPr lang="en-US"/>
          </a:p>
          <a:p>
            <a:endParaRPr lang="en-US"/>
          </a:p>
        </p:txBody>
      </p:sp>
      <p:pic>
        <p:nvPicPr>
          <p:cNvPr id="4" name="Content Placeholder 3">
            <a:extLst>
              <a:ext uri="{FF2B5EF4-FFF2-40B4-BE49-F238E27FC236}">
                <a16:creationId xmlns:a16="http://schemas.microsoft.com/office/drawing/2014/main" id="{BFC01B2B-1B5A-0B71-7116-BB602E842F6C}"/>
              </a:ext>
            </a:extLst>
          </p:cNvPr>
          <p:cNvPicPr>
            <a:picLocks noGrp="1" noChangeAspect="1"/>
          </p:cNvPicPr>
          <p:nvPr>
            <p:ph idx="1"/>
          </p:nvPr>
        </p:nvPicPr>
        <p:blipFill>
          <a:blip r:embed="rId2"/>
          <a:stretch>
            <a:fillRect/>
          </a:stretch>
        </p:blipFill>
        <p:spPr>
          <a:xfrm>
            <a:off x="625978" y="2119312"/>
            <a:ext cx="6934200" cy="1438275"/>
          </a:xfrm>
          <a:prstGeom prst="rect">
            <a:avLst/>
          </a:prstGeom>
        </p:spPr>
      </p:pic>
      <p:sp>
        <p:nvSpPr>
          <p:cNvPr id="3" name="TextBox 2">
            <a:extLst>
              <a:ext uri="{FF2B5EF4-FFF2-40B4-BE49-F238E27FC236}">
                <a16:creationId xmlns:a16="http://schemas.microsoft.com/office/drawing/2014/main" id="{762A80E8-3184-5C94-39AF-FD6FC7726F50}"/>
              </a:ext>
            </a:extLst>
          </p:cNvPr>
          <p:cNvSpPr txBox="1"/>
          <p:nvPr/>
        </p:nvSpPr>
        <p:spPr>
          <a:xfrm>
            <a:off x="717224" y="4081910"/>
            <a:ext cx="684627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Set an infinity value.</a:t>
            </a:r>
            <a:endParaRPr lang="en-US"/>
          </a:p>
          <a:p>
            <a:pPr marL="285750" indent="-285750">
              <a:buFont typeface="Arial"/>
              <a:buChar char="•"/>
            </a:pPr>
            <a:r>
              <a:rPr lang="en-US">
                <a:ea typeface="+mn-lt"/>
                <a:cs typeface="+mn-lt"/>
              </a:rPr>
              <a:t>Initialize arrays: distance, parent, </a:t>
            </a:r>
            <a:r>
              <a:rPr lang="en-US" err="1">
                <a:ea typeface="+mn-lt"/>
                <a:cs typeface="+mn-lt"/>
              </a:rPr>
              <a:t>in_queue</a:t>
            </a:r>
            <a:r>
              <a:rPr lang="en-US">
                <a:ea typeface="+mn-lt"/>
                <a:cs typeface="+mn-lt"/>
              </a:rPr>
              <a:t>.</a:t>
            </a:r>
            <a:endParaRPr lang="en-US"/>
          </a:p>
          <a:p>
            <a:pPr marL="285750" indent="-285750">
              <a:buFont typeface="Arial"/>
              <a:buChar char="•"/>
            </a:pPr>
            <a:r>
              <a:rPr lang="en-US">
                <a:ea typeface="+mn-lt"/>
                <a:cs typeface="+mn-lt"/>
              </a:rPr>
              <a:t>Source vertex starts at 0, others at infinity.</a:t>
            </a:r>
            <a:endParaRPr lang="en-US"/>
          </a:p>
          <a:p>
            <a:pPr algn="l"/>
            <a:endParaRPr lang="en-US"/>
          </a:p>
        </p:txBody>
      </p:sp>
    </p:spTree>
    <p:extLst>
      <p:ext uri="{BB962C8B-B14F-4D97-AF65-F5344CB8AC3E}">
        <p14:creationId xmlns:p14="http://schemas.microsoft.com/office/powerpoint/2010/main" val="643952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92A75-A397-A142-2EC5-41F6806AE474}"/>
              </a:ext>
            </a:extLst>
          </p:cNvPr>
          <p:cNvSpPr>
            <a:spLocks noGrp="1"/>
          </p:cNvSpPr>
          <p:nvPr>
            <p:ph type="title"/>
          </p:nvPr>
        </p:nvSpPr>
        <p:spPr/>
        <p:txBody>
          <a:bodyPr/>
          <a:lstStyle/>
          <a:p>
            <a:r>
              <a:rPr lang="en-US">
                <a:ea typeface="+mj-lt"/>
                <a:cs typeface="+mj-lt"/>
              </a:rPr>
              <a:t>Finding Minimum</a:t>
            </a:r>
            <a:endParaRPr lang="en-US"/>
          </a:p>
          <a:p>
            <a:endParaRPr lang="en-US"/>
          </a:p>
        </p:txBody>
      </p:sp>
      <p:pic>
        <p:nvPicPr>
          <p:cNvPr id="10" name="Content Placeholder 9">
            <a:extLst>
              <a:ext uri="{FF2B5EF4-FFF2-40B4-BE49-F238E27FC236}">
                <a16:creationId xmlns:a16="http://schemas.microsoft.com/office/drawing/2014/main" id="{05EA1180-12EF-F36A-C960-AFE78325165B}"/>
              </a:ext>
            </a:extLst>
          </p:cNvPr>
          <p:cNvPicPr>
            <a:picLocks noGrp="1" noChangeAspect="1"/>
          </p:cNvPicPr>
          <p:nvPr>
            <p:ph idx="1"/>
          </p:nvPr>
        </p:nvPicPr>
        <p:blipFill>
          <a:blip r:embed="rId2"/>
          <a:stretch>
            <a:fillRect/>
          </a:stretch>
        </p:blipFill>
        <p:spPr>
          <a:xfrm>
            <a:off x="703765" y="2178049"/>
            <a:ext cx="6905625" cy="1638300"/>
          </a:xfrm>
          <a:prstGeom prst="rect">
            <a:avLst/>
          </a:prstGeom>
        </p:spPr>
      </p:pic>
      <p:sp>
        <p:nvSpPr>
          <p:cNvPr id="3" name="TextBox 2">
            <a:extLst>
              <a:ext uri="{FF2B5EF4-FFF2-40B4-BE49-F238E27FC236}">
                <a16:creationId xmlns:a16="http://schemas.microsoft.com/office/drawing/2014/main" id="{5029D5A6-4D49-37FE-B675-A3C955AB91F9}"/>
              </a:ext>
            </a:extLst>
          </p:cNvPr>
          <p:cNvSpPr txBox="1"/>
          <p:nvPr/>
        </p:nvSpPr>
        <p:spPr>
          <a:xfrm>
            <a:off x="700128" y="4278922"/>
            <a:ext cx="880012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Algorithm runs once per vertex.</a:t>
            </a:r>
            <a:endParaRPr lang="en-US"/>
          </a:p>
          <a:p>
            <a:pPr marL="285750" indent="-285750">
              <a:buFont typeface="Arial"/>
              <a:buChar char="•"/>
            </a:pPr>
            <a:r>
              <a:rPr lang="en-US">
                <a:ea typeface="+mn-lt"/>
                <a:cs typeface="+mn-lt"/>
              </a:rPr>
              <a:t>In each round, find the smallest distance by scanning all vertices → O(V).</a:t>
            </a:r>
            <a:endParaRPr lang="en-US"/>
          </a:p>
          <a:p>
            <a:pPr marL="285750" indent="-285750">
              <a:buFont typeface="Arial"/>
              <a:buChar char="•"/>
            </a:pPr>
            <a:r>
              <a:rPr lang="en-US">
                <a:ea typeface="+mn-lt"/>
                <a:cs typeface="+mn-lt"/>
              </a:rPr>
              <a:t>Uses an array (not a heap).</a:t>
            </a:r>
            <a:endParaRPr lang="en-US"/>
          </a:p>
          <a:p>
            <a:pPr algn="l"/>
            <a:endParaRPr lang="en-US"/>
          </a:p>
        </p:txBody>
      </p:sp>
    </p:spTree>
    <p:extLst>
      <p:ext uri="{BB962C8B-B14F-4D97-AF65-F5344CB8AC3E}">
        <p14:creationId xmlns:p14="http://schemas.microsoft.com/office/powerpoint/2010/main" val="4293827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77912-9E87-5FCF-3302-FBA9E3AC3981}"/>
              </a:ext>
            </a:extLst>
          </p:cNvPr>
          <p:cNvSpPr>
            <a:spLocks noGrp="1"/>
          </p:cNvSpPr>
          <p:nvPr>
            <p:ph type="title"/>
          </p:nvPr>
        </p:nvSpPr>
        <p:spPr/>
        <p:txBody>
          <a:bodyPr/>
          <a:lstStyle/>
          <a:p>
            <a:r>
              <a:rPr lang="en-US">
                <a:ea typeface="+mj-lt"/>
                <a:cs typeface="+mj-lt"/>
              </a:rPr>
              <a:t>Relaxation &amp; Complexity</a:t>
            </a:r>
            <a:endParaRPr lang="en-US"/>
          </a:p>
          <a:p>
            <a:endParaRPr lang="en-US"/>
          </a:p>
        </p:txBody>
      </p:sp>
      <p:pic>
        <p:nvPicPr>
          <p:cNvPr id="4" name="Content Placeholder 3">
            <a:extLst>
              <a:ext uri="{FF2B5EF4-FFF2-40B4-BE49-F238E27FC236}">
                <a16:creationId xmlns:a16="http://schemas.microsoft.com/office/drawing/2014/main" id="{B6E4847E-E74A-528C-E09E-9879A52E70A1}"/>
              </a:ext>
            </a:extLst>
          </p:cNvPr>
          <p:cNvPicPr>
            <a:picLocks noGrp="1" noChangeAspect="1"/>
          </p:cNvPicPr>
          <p:nvPr>
            <p:ph idx="1"/>
          </p:nvPr>
        </p:nvPicPr>
        <p:blipFill>
          <a:blip r:embed="rId2"/>
          <a:stretch>
            <a:fillRect/>
          </a:stretch>
        </p:blipFill>
        <p:spPr>
          <a:xfrm>
            <a:off x="576237" y="2344207"/>
            <a:ext cx="6991350" cy="1390650"/>
          </a:xfrm>
          <a:prstGeom prst="rect">
            <a:avLst/>
          </a:prstGeom>
        </p:spPr>
      </p:pic>
      <p:sp>
        <p:nvSpPr>
          <p:cNvPr id="3" name="TextBox 2">
            <a:extLst>
              <a:ext uri="{FF2B5EF4-FFF2-40B4-BE49-F238E27FC236}">
                <a16:creationId xmlns:a16="http://schemas.microsoft.com/office/drawing/2014/main" id="{1D504E1F-A537-E9E3-8D52-A7C0BAF1F7CA}"/>
              </a:ext>
            </a:extLst>
          </p:cNvPr>
          <p:cNvSpPr txBox="1"/>
          <p:nvPr/>
        </p:nvSpPr>
        <p:spPr>
          <a:xfrm>
            <a:off x="722923" y="4269154"/>
            <a:ext cx="728784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a:t>Relax all neighbors using adjacency matrix.</a:t>
            </a:r>
          </a:p>
          <a:p>
            <a:pPr marL="228600" indent="-228600">
              <a:buFont typeface=""/>
              <a:buChar char="•"/>
            </a:pPr>
            <a:r>
              <a:rPr lang="en-US"/>
              <a:t>Checks every vertex in the row, even without edges.</a:t>
            </a:r>
          </a:p>
          <a:p>
            <a:pPr marL="228600" indent="-228600">
              <a:buFont typeface=""/>
              <a:buChar char="•"/>
            </a:pPr>
            <a:r>
              <a:rPr lang="en-US"/>
              <a:t>Each round does O(V) work × V rounds → O(V²).</a:t>
            </a:r>
          </a:p>
          <a:p>
            <a:pPr marL="228600" indent="-228600">
              <a:buFont typeface=""/>
              <a:buChar char="•"/>
            </a:pPr>
            <a:r>
              <a:rPr lang="en-US"/>
              <a:t>Runtime depends on V, not E.</a:t>
            </a:r>
          </a:p>
        </p:txBody>
      </p:sp>
    </p:spTree>
    <p:extLst>
      <p:ext uri="{BB962C8B-B14F-4D97-AF65-F5344CB8AC3E}">
        <p14:creationId xmlns:p14="http://schemas.microsoft.com/office/powerpoint/2010/main" val="3389854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0EAA-C1D9-74B2-F491-644F9D4DFC71}"/>
              </a:ext>
            </a:extLst>
          </p:cNvPr>
          <p:cNvSpPr>
            <a:spLocks noGrp="1"/>
          </p:cNvSpPr>
          <p:nvPr>
            <p:ph type="title"/>
          </p:nvPr>
        </p:nvSpPr>
        <p:spPr>
          <a:xfrm>
            <a:off x="808661" y="365125"/>
            <a:ext cx="10357666" cy="1047681"/>
          </a:xfrm>
        </p:spPr>
        <p:txBody>
          <a:bodyPr/>
          <a:lstStyle/>
          <a:p>
            <a:r>
              <a:rPr lang="en-US">
                <a:ea typeface="+mj-lt"/>
                <a:cs typeface="+mj-lt"/>
              </a:rPr>
              <a:t>Theoretical Analysis – Array </a:t>
            </a:r>
            <a:r>
              <a:rPr lang="en-US" err="1">
                <a:ea typeface="+mj-lt"/>
                <a:cs typeface="+mj-lt"/>
              </a:rPr>
              <a:t>pq</a:t>
            </a:r>
            <a:endParaRPr lang="en-US" err="1"/>
          </a:p>
        </p:txBody>
      </p:sp>
      <p:sp>
        <p:nvSpPr>
          <p:cNvPr id="3" name="Content Placeholder 2">
            <a:extLst>
              <a:ext uri="{FF2B5EF4-FFF2-40B4-BE49-F238E27FC236}">
                <a16:creationId xmlns:a16="http://schemas.microsoft.com/office/drawing/2014/main" id="{AA48110A-71D0-7E78-3075-6DF0AEC7CAF5}"/>
              </a:ext>
            </a:extLst>
          </p:cNvPr>
          <p:cNvSpPr>
            <a:spLocks noGrp="1"/>
          </p:cNvSpPr>
          <p:nvPr>
            <p:ph idx="1"/>
          </p:nvPr>
        </p:nvSpPr>
        <p:spPr/>
        <p:txBody>
          <a:bodyPr vert="horz" lIns="91440" tIns="45720" rIns="91440" bIns="45720" rtlCol="0" anchor="t">
            <a:normAutofit/>
          </a:bodyPr>
          <a:lstStyle/>
          <a:p>
            <a:r>
              <a:rPr lang="en-US" sz="1800">
                <a:ea typeface="+mj-lt"/>
                <a:cs typeface="+mj-lt"/>
              </a:rPr>
              <a:t>Each iteration selects the vertex with the smallest distance by scanning all vertices → </a:t>
            </a:r>
            <a:r>
              <a:rPr lang="en-US" sz="1800" b="1">
                <a:ea typeface="+mj-lt"/>
                <a:cs typeface="+mj-lt"/>
              </a:rPr>
              <a:t>O(|V|)</a:t>
            </a:r>
            <a:endParaRPr lang="en-US" sz="1800">
              <a:ea typeface="+mj-lt"/>
              <a:cs typeface="+mj-lt"/>
            </a:endParaRPr>
          </a:p>
          <a:p>
            <a:r>
              <a:rPr lang="en-US" sz="1800">
                <a:ea typeface="+mj-lt"/>
                <a:cs typeface="+mj-lt"/>
              </a:rPr>
              <a:t>For each selected vertex, all possible |V| neighbors are checked in the adjacency matrix → </a:t>
            </a:r>
            <a:r>
              <a:rPr lang="en-US" sz="1800" b="1">
                <a:ea typeface="+mj-lt"/>
                <a:cs typeface="+mj-lt"/>
              </a:rPr>
              <a:t>O(|V|)</a:t>
            </a:r>
            <a:endParaRPr lang="en-US" sz="1800">
              <a:ea typeface="+mj-lt"/>
              <a:cs typeface="+mj-lt"/>
            </a:endParaRPr>
          </a:p>
          <a:p>
            <a:r>
              <a:rPr lang="en-US" sz="1800">
                <a:ea typeface="+mj-lt"/>
                <a:cs typeface="+mj-lt"/>
              </a:rPr>
              <a:t>The main loop repeats for all |V| vertices → </a:t>
            </a:r>
            <a:r>
              <a:rPr lang="en-US" sz="1800" b="1">
                <a:ea typeface="+mj-lt"/>
                <a:cs typeface="+mj-lt"/>
              </a:rPr>
              <a:t>Total: O(|V|²)</a:t>
            </a:r>
            <a:endParaRPr lang="en-US" sz="1800">
              <a:ea typeface="+mj-lt"/>
              <a:cs typeface="+mj-lt"/>
            </a:endParaRPr>
          </a:p>
          <a:p>
            <a:r>
              <a:rPr lang="en-US" sz="1800">
                <a:ea typeface="+mj-lt"/>
                <a:cs typeface="+mj-lt"/>
              </a:rPr>
              <a:t>Since every vertex pair is checked regardless of edge existence, </a:t>
            </a:r>
            <a:r>
              <a:rPr lang="en-US" sz="1800" b="1">
                <a:ea typeface="+mj-lt"/>
                <a:cs typeface="+mj-lt"/>
              </a:rPr>
              <a:t>|E| does not affect the runtime</a:t>
            </a:r>
            <a:endParaRPr lang="en-US" sz="1800"/>
          </a:p>
          <a:p>
            <a:r>
              <a:rPr lang="en-US" sz="1800">
                <a:ea typeface="+mj-lt"/>
                <a:cs typeface="+mj-lt"/>
              </a:rPr>
              <a:t>Space requirement: adjacency matrix → </a:t>
            </a:r>
            <a:r>
              <a:rPr lang="en-US" sz="1800" b="1">
                <a:ea typeface="+mj-lt"/>
                <a:cs typeface="+mj-lt"/>
              </a:rPr>
              <a:t>O(|V|²)</a:t>
            </a:r>
            <a:endParaRPr lang="en-US" sz="1800">
              <a:ea typeface="+mj-lt"/>
              <a:cs typeface="+mj-lt"/>
            </a:endParaRPr>
          </a:p>
          <a:p>
            <a:r>
              <a:rPr lang="en-US" sz="1800">
                <a:ea typeface="+mj-lt"/>
                <a:cs typeface="+mj-lt"/>
              </a:rPr>
              <a:t>Efficient for </a:t>
            </a:r>
            <a:r>
              <a:rPr lang="en-US" sz="1800" b="1">
                <a:ea typeface="+mj-lt"/>
                <a:cs typeface="+mj-lt"/>
              </a:rPr>
              <a:t>dense graphs</a:t>
            </a:r>
            <a:r>
              <a:rPr lang="en-US" sz="1800">
                <a:ea typeface="+mj-lt"/>
                <a:cs typeface="+mj-lt"/>
              </a:rPr>
              <a:t>, inefficient for </a:t>
            </a:r>
            <a:r>
              <a:rPr lang="en-US" sz="1800" b="1">
                <a:ea typeface="+mj-lt"/>
                <a:cs typeface="+mj-lt"/>
              </a:rPr>
              <a:t>sparse ones</a:t>
            </a:r>
            <a:r>
              <a:rPr lang="en-US" sz="1800">
                <a:ea typeface="+mj-lt"/>
                <a:cs typeface="+mj-lt"/>
              </a:rPr>
              <a:t>.</a:t>
            </a:r>
            <a:endParaRPr lang="en-US" sz="1800" b="1">
              <a:ea typeface="+mj-lt"/>
              <a:cs typeface="+mj-lt"/>
            </a:endParaRPr>
          </a:p>
          <a:p>
            <a:endParaRPr lang="en-US" b="1"/>
          </a:p>
          <a:p>
            <a:endParaRPr lang="en-US"/>
          </a:p>
        </p:txBody>
      </p:sp>
    </p:spTree>
    <p:extLst>
      <p:ext uri="{BB962C8B-B14F-4D97-AF65-F5344CB8AC3E}">
        <p14:creationId xmlns:p14="http://schemas.microsoft.com/office/powerpoint/2010/main" val="982840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1202A-60FA-6D90-F635-7C2B31109D5A}"/>
              </a:ext>
            </a:extLst>
          </p:cNvPr>
          <p:cNvSpPr>
            <a:spLocks noGrp="1"/>
          </p:cNvSpPr>
          <p:nvPr>
            <p:ph type="title"/>
          </p:nvPr>
        </p:nvSpPr>
        <p:spPr>
          <a:xfrm>
            <a:off x="808661" y="365125"/>
            <a:ext cx="10357666" cy="919867"/>
          </a:xfrm>
        </p:spPr>
        <p:txBody>
          <a:bodyPr/>
          <a:lstStyle/>
          <a:p>
            <a:r>
              <a:rPr lang="en-US">
                <a:ea typeface="+mj-lt"/>
                <a:cs typeface="+mj-lt"/>
              </a:rPr>
              <a:t>Empirical Results – Array PQ</a:t>
            </a:r>
            <a:endParaRPr lang="en-US"/>
          </a:p>
        </p:txBody>
      </p:sp>
      <p:pic>
        <p:nvPicPr>
          <p:cNvPr id="9" name="Picture 8">
            <a:extLst>
              <a:ext uri="{FF2B5EF4-FFF2-40B4-BE49-F238E27FC236}">
                <a16:creationId xmlns:a16="http://schemas.microsoft.com/office/drawing/2014/main" id="{62A40EFD-0B21-2D78-4ED1-3503F2EEDF7E}"/>
              </a:ext>
            </a:extLst>
          </p:cNvPr>
          <p:cNvPicPr>
            <a:picLocks noChangeAspect="1"/>
          </p:cNvPicPr>
          <p:nvPr/>
        </p:nvPicPr>
        <p:blipFill>
          <a:blip r:embed="rId2"/>
          <a:stretch>
            <a:fillRect/>
          </a:stretch>
        </p:blipFill>
        <p:spPr>
          <a:xfrm>
            <a:off x="5761038" y="1371600"/>
            <a:ext cx="5495925" cy="4114800"/>
          </a:xfrm>
          <a:prstGeom prst="rect">
            <a:avLst/>
          </a:prstGeom>
        </p:spPr>
      </p:pic>
      <p:pic>
        <p:nvPicPr>
          <p:cNvPr id="5" name="Content Placeholder 4">
            <a:extLst>
              <a:ext uri="{FF2B5EF4-FFF2-40B4-BE49-F238E27FC236}">
                <a16:creationId xmlns:a16="http://schemas.microsoft.com/office/drawing/2014/main" id="{AD753C95-4235-DF01-0247-3B3BCFA7DB06}"/>
              </a:ext>
            </a:extLst>
          </p:cNvPr>
          <p:cNvPicPr>
            <a:picLocks noGrp="1" noChangeAspect="1"/>
          </p:cNvPicPr>
          <p:nvPr>
            <p:ph idx="1"/>
          </p:nvPr>
        </p:nvPicPr>
        <p:blipFill>
          <a:blip r:embed="rId3"/>
          <a:stretch>
            <a:fillRect/>
          </a:stretch>
        </p:blipFill>
        <p:spPr>
          <a:xfrm>
            <a:off x="494378" y="1384299"/>
            <a:ext cx="5495925" cy="4114800"/>
          </a:xfrm>
          <a:prstGeom prst="rect">
            <a:avLst/>
          </a:prstGeom>
        </p:spPr>
      </p:pic>
    </p:spTree>
    <p:extLst>
      <p:ext uri="{BB962C8B-B14F-4D97-AF65-F5344CB8AC3E}">
        <p14:creationId xmlns:p14="http://schemas.microsoft.com/office/powerpoint/2010/main" val="1084493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CECC9-C071-20EA-61F8-E1E8544DB38F}"/>
              </a:ext>
            </a:extLst>
          </p:cNvPr>
          <p:cNvSpPr>
            <a:spLocks noGrp="1"/>
          </p:cNvSpPr>
          <p:nvPr>
            <p:ph type="title"/>
          </p:nvPr>
        </p:nvSpPr>
        <p:spPr>
          <a:xfrm>
            <a:off x="808661" y="365125"/>
            <a:ext cx="10357666" cy="930451"/>
          </a:xfrm>
        </p:spPr>
        <p:txBody>
          <a:bodyPr>
            <a:normAutofit/>
          </a:bodyPr>
          <a:lstStyle/>
          <a:p>
            <a:r>
              <a:rPr lang="en-US"/>
              <a:t>Final</a:t>
            </a:r>
            <a:r>
              <a:rPr lang="en-US">
                <a:ea typeface="+mj-lt"/>
                <a:cs typeface="+mj-lt"/>
              </a:rPr>
              <a:t> Analysis &amp; Validation</a:t>
            </a:r>
            <a:endParaRPr lang="en-US"/>
          </a:p>
        </p:txBody>
      </p:sp>
      <p:sp>
        <p:nvSpPr>
          <p:cNvPr id="3" name="Content Placeholder 2">
            <a:extLst>
              <a:ext uri="{FF2B5EF4-FFF2-40B4-BE49-F238E27FC236}">
                <a16:creationId xmlns:a16="http://schemas.microsoft.com/office/drawing/2014/main" id="{9A293CBD-5F6B-3479-94B6-4107215BF1C0}"/>
              </a:ext>
            </a:extLst>
          </p:cNvPr>
          <p:cNvSpPr>
            <a:spLocks noGrp="1"/>
          </p:cNvSpPr>
          <p:nvPr>
            <p:ph idx="1"/>
          </p:nvPr>
        </p:nvSpPr>
        <p:spPr/>
        <p:txBody>
          <a:bodyPr vert="horz" lIns="91440" tIns="45720" rIns="91440" bIns="45720" rtlCol="0" anchor="t">
            <a:normAutofit/>
          </a:bodyPr>
          <a:lstStyle/>
          <a:p>
            <a:r>
              <a:rPr lang="en-US" b="1">
                <a:ea typeface="+mj-lt"/>
                <a:cs typeface="+mj-lt"/>
              </a:rPr>
              <a:t>Theory:</a:t>
            </a:r>
            <a:r>
              <a:rPr lang="en-US">
                <a:ea typeface="+mj-lt"/>
                <a:cs typeface="+mj-lt"/>
              </a:rPr>
              <a:t> Time complexity = </a:t>
            </a:r>
            <a:r>
              <a:rPr lang="en-US" b="1">
                <a:ea typeface="+mj-lt"/>
                <a:cs typeface="+mj-lt"/>
              </a:rPr>
              <a:t>O(|V|²)</a:t>
            </a:r>
            <a:r>
              <a:rPr lang="en-US">
                <a:ea typeface="+mj-lt"/>
                <a:cs typeface="+mj-lt"/>
              </a:rPr>
              <a:t> using adjacency matrix + array PQ.</a:t>
            </a:r>
          </a:p>
          <a:p>
            <a:r>
              <a:rPr lang="en-US" b="1">
                <a:ea typeface="+mj-lt"/>
                <a:cs typeface="+mj-lt"/>
              </a:rPr>
              <a:t>Reason:</a:t>
            </a:r>
            <a:r>
              <a:rPr lang="en-US">
                <a:ea typeface="+mj-lt"/>
                <a:cs typeface="+mj-lt"/>
              </a:rPr>
              <a:t> Each iteration scans all vertices for extract-min and relaxation.</a:t>
            </a:r>
          </a:p>
          <a:p>
            <a:r>
              <a:rPr lang="en-US" b="1">
                <a:ea typeface="+mj-lt"/>
                <a:cs typeface="+mj-lt"/>
              </a:rPr>
              <a:t>Observation:</a:t>
            </a:r>
            <a:r>
              <a:rPr lang="en-US">
                <a:ea typeface="+mj-lt"/>
                <a:cs typeface="+mj-lt"/>
              </a:rPr>
              <a:t> Runtime grows </a:t>
            </a:r>
            <a:r>
              <a:rPr lang="en-US" b="1">
                <a:ea typeface="+mj-lt"/>
                <a:cs typeface="+mj-lt"/>
              </a:rPr>
              <a:t>quadratically</a:t>
            </a:r>
            <a:r>
              <a:rPr lang="en-US">
                <a:ea typeface="+mj-lt"/>
                <a:cs typeface="+mj-lt"/>
              </a:rPr>
              <a:t> as |V| increases.</a:t>
            </a:r>
          </a:p>
          <a:p>
            <a:r>
              <a:rPr lang="en-US" b="1">
                <a:ea typeface="+mj-lt"/>
                <a:cs typeface="+mj-lt"/>
              </a:rPr>
              <a:t>Validation:</a:t>
            </a:r>
            <a:r>
              <a:rPr lang="en-US">
                <a:ea typeface="+mj-lt"/>
                <a:cs typeface="+mj-lt"/>
              </a:rPr>
              <a:t> Empirical results match theoretical expectation.</a:t>
            </a:r>
          </a:p>
          <a:p>
            <a:r>
              <a:rPr lang="en-US" b="1">
                <a:ea typeface="+mj-lt"/>
                <a:cs typeface="+mj-lt"/>
              </a:rPr>
              <a:t>Conclusion:</a:t>
            </a:r>
            <a:r>
              <a:rPr lang="en-US">
                <a:ea typeface="+mj-lt"/>
                <a:cs typeface="+mj-lt"/>
              </a:rPr>
              <a:t> Simple but slow — good for </a:t>
            </a:r>
            <a:r>
              <a:rPr lang="en-US" b="1">
                <a:ea typeface="+mj-lt"/>
                <a:cs typeface="+mj-lt"/>
              </a:rPr>
              <a:t>dense graphs</a:t>
            </a:r>
            <a:r>
              <a:rPr lang="en-US">
                <a:ea typeface="+mj-lt"/>
                <a:cs typeface="+mj-lt"/>
              </a:rPr>
              <a:t>, weak for </a:t>
            </a:r>
            <a:r>
              <a:rPr lang="en-US" b="1">
                <a:ea typeface="+mj-lt"/>
                <a:cs typeface="+mj-lt"/>
              </a:rPr>
              <a:t>sparse graphs</a:t>
            </a:r>
            <a:r>
              <a:rPr lang="en-US">
                <a:ea typeface="+mj-lt"/>
                <a:cs typeface="+mj-lt"/>
              </a:rPr>
              <a:t>.</a:t>
            </a:r>
          </a:p>
          <a:p>
            <a:endParaRPr lang="en-US"/>
          </a:p>
        </p:txBody>
      </p:sp>
    </p:spTree>
    <p:extLst>
      <p:ext uri="{BB962C8B-B14F-4D97-AF65-F5344CB8AC3E}">
        <p14:creationId xmlns:p14="http://schemas.microsoft.com/office/powerpoint/2010/main" val="2578344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37777-8147-4192-6107-67564EF0CFE8}"/>
              </a:ext>
            </a:extLst>
          </p:cNvPr>
          <p:cNvSpPr>
            <a:spLocks noGrp="1"/>
          </p:cNvSpPr>
          <p:nvPr>
            <p:ph type="title"/>
          </p:nvPr>
        </p:nvSpPr>
        <p:spPr>
          <a:xfrm>
            <a:off x="4943154" y="2759285"/>
            <a:ext cx="2305693" cy="914874"/>
          </a:xfrm>
        </p:spPr>
        <p:txBody>
          <a:bodyPr vert="horz" lIns="91440" tIns="45720" rIns="91440" bIns="45720" rtlCol="0" anchor="b">
            <a:noAutofit/>
          </a:bodyPr>
          <a:lstStyle/>
          <a:p>
            <a:r>
              <a:rPr lang="en-US" sz="2400" b="1">
                <a:latin typeface="Open Sans"/>
                <a:ea typeface="Open Sans"/>
                <a:cs typeface="Open Sans"/>
              </a:rPr>
              <a:t>Part (B)</a:t>
            </a:r>
          </a:p>
        </p:txBody>
      </p:sp>
    </p:spTree>
    <p:extLst>
      <p:ext uri="{BB962C8B-B14F-4D97-AF65-F5344CB8AC3E}">
        <p14:creationId xmlns:p14="http://schemas.microsoft.com/office/powerpoint/2010/main" val="3939910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0EC13-7749-C1C1-A121-FA7945A8FEFA}"/>
              </a:ext>
            </a:extLst>
          </p:cNvPr>
          <p:cNvSpPr>
            <a:spLocks noGrp="1"/>
          </p:cNvSpPr>
          <p:nvPr>
            <p:ph type="title"/>
          </p:nvPr>
        </p:nvSpPr>
        <p:spPr>
          <a:xfrm>
            <a:off x="909303" y="5691"/>
            <a:ext cx="10357666" cy="848979"/>
          </a:xfrm>
        </p:spPr>
        <p:txBody>
          <a:bodyPr/>
          <a:lstStyle/>
          <a:p>
            <a:r>
              <a:rPr lang="en-US"/>
              <a:t>Code analysis (Theoretical)</a:t>
            </a:r>
          </a:p>
        </p:txBody>
      </p:sp>
      <p:pic>
        <p:nvPicPr>
          <p:cNvPr id="8" name="Content Placeholder 7">
            <a:extLst>
              <a:ext uri="{FF2B5EF4-FFF2-40B4-BE49-F238E27FC236}">
                <a16:creationId xmlns:a16="http://schemas.microsoft.com/office/drawing/2014/main" id="{577163A6-D923-3319-F73D-256A4D465C0E}"/>
              </a:ext>
            </a:extLst>
          </p:cNvPr>
          <p:cNvPicPr>
            <a:picLocks noGrp="1" noChangeAspect="1"/>
          </p:cNvPicPr>
          <p:nvPr>
            <p:ph idx="1"/>
          </p:nvPr>
        </p:nvPicPr>
        <p:blipFill>
          <a:blip r:embed="rId3"/>
          <a:stretch>
            <a:fillRect/>
          </a:stretch>
        </p:blipFill>
        <p:spPr>
          <a:xfrm>
            <a:off x="276628" y="1156748"/>
            <a:ext cx="5124450" cy="1095375"/>
          </a:xfrm>
          <a:prstGeom prst="rect">
            <a:avLst/>
          </a:prstGeom>
        </p:spPr>
      </p:pic>
      <p:sp>
        <p:nvSpPr>
          <p:cNvPr id="4" name="Arrow: Right 3">
            <a:extLst>
              <a:ext uri="{FF2B5EF4-FFF2-40B4-BE49-F238E27FC236}">
                <a16:creationId xmlns:a16="http://schemas.microsoft.com/office/drawing/2014/main" id="{5AF0B5DA-3400-CD49-E6A2-B9087563A5D3}"/>
              </a:ext>
            </a:extLst>
          </p:cNvPr>
          <p:cNvSpPr/>
          <p:nvPr/>
        </p:nvSpPr>
        <p:spPr>
          <a:xfrm>
            <a:off x="5699510" y="1473786"/>
            <a:ext cx="547779" cy="443440"/>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480DC06-B3A3-B628-2507-B01C3CEEAD10}"/>
              </a:ext>
            </a:extLst>
          </p:cNvPr>
          <p:cNvSpPr txBox="1"/>
          <p:nvPr/>
        </p:nvSpPr>
        <p:spPr>
          <a:xfrm>
            <a:off x="6570483" y="1474638"/>
            <a:ext cx="4983495"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u="sng"/>
              <a:t>Initialization</a:t>
            </a:r>
          </a:p>
          <a:p>
            <a:pPr marL="285750" indent="-285750">
              <a:buFont typeface="Arial"/>
              <a:buChar char="•"/>
            </a:pPr>
            <a:r>
              <a:rPr lang="en-US">
                <a:ea typeface="+mn-lt"/>
                <a:cs typeface="+mn-lt"/>
              </a:rPr>
              <a:t>setting up the distances for all vertices</a:t>
            </a:r>
          </a:p>
          <a:p>
            <a:pPr marL="285750" indent="-285750">
              <a:buFont typeface="Arial"/>
              <a:buChar char="•"/>
            </a:pPr>
            <a:endParaRPr lang="en-US">
              <a:ea typeface="+mn-lt"/>
              <a:cs typeface="+mn-lt"/>
            </a:endParaRPr>
          </a:p>
          <a:p>
            <a:pPr marL="285750" indent="-285750">
              <a:buFont typeface="Arial"/>
              <a:buChar char="•"/>
            </a:pPr>
            <a:r>
              <a:rPr lang="en-US">
                <a:ea typeface="+mn-lt"/>
                <a:cs typeface="+mn-lt"/>
              </a:rPr>
              <a:t>All distances are initially set to ∞ (unknown), except the start vertex, which is set to 0</a:t>
            </a:r>
          </a:p>
          <a:p>
            <a:pPr marL="285750" indent="-285750">
              <a:buFont typeface="Arial"/>
              <a:buChar char="•"/>
            </a:pPr>
            <a:endParaRPr lang="en-US">
              <a:ea typeface="+mn-lt"/>
              <a:cs typeface="+mn-lt"/>
            </a:endParaRPr>
          </a:p>
          <a:p>
            <a:pPr marL="285750" indent="-285750">
              <a:buFont typeface="Arial"/>
              <a:buChar char="•"/>
            </a:pPr>
            <a:r>
              <a:rPr lang="en-US">
                <a:ea typeface="+mn-lt"/>
                <a:cs typeface="+mn-lt"/>
              </a:rPr>
              <a:t>A min-heap (priority queue) is initialized to keep track of the vertex with the current smallest tentative distance.</a:t>
            </a:r>
            <a:endParaRPr lang="en-US"/>
          </a:p>
          <a:p>
            <a:pPr marL="285750" indent="-285750">
              <a:buFont typeface="Arial"/>
              <a:buChar char="•"/>
            </a:pPr>
            <a:endParaRPr lang="en-US"/>
          </a:p>
          <a:p>
            <a:pPr marL="285750" indent="-285750">
              <a:buFont typeface="Arial"/>
              <a:buChar char="•"/>
            </a:pPr>
            <a:r>
              <a:rPr lang="en-US">
                <a:ea typeface="+mn-lt"/>
                <a:cs typeface="+mn-lt"/>
              </a:rPr>
              <a:t>Assigning a value per vertex is a constant-time operation, </a:t>
            </a:r>
            <a:r>
              <a:rPr lang="en-US"/>
              <a:t>thus </a:t>
            </a:r>
            <a:r>
              <a:rPr lang="en-US" b="1"/>
              <a:t>O(|V|)</a:t>
            </a:r>
          </a:p>
          <a:p>
            <a:endParaRPr lang="en-US"/>
          </a:p>
          <a:p>
            <a:endParaRPr lang="en-US"/>
          </a:p>
        </p:txBody>
      </p:sp>
      <p:pic>
        <p:nvPicPr>
          <p:cNvPr id="3" name="Picture 2">
            <a:extLst>
              <a:ext uri="{FF2B5EF4-FFF2-40B4-BE49-F238E27FC236}">
                <a16:creationId xmlns:a16="http://schemas.microsoft.com/office/drawing/2014/main" id="{1D2BC6ED-CDE7-DEE2-D03C-0B61543945CB}"/>
              </a:ext>
            </a:extLst>
          </p:cNvPr>
          <p:cNvPicPr>
            <a:picLocks noChangeAspect="1"/>
          </p:cNvPicPr>
          <p:nvPr/>
        </p:nvPicPr>
        <p:blipFill>
          <a:blip r:embed="rId4"/>
          <a:stretch>
            <a:fillRect/>
          </a:stretch>
        </p:blipFill>
        <p:spPr>
          <a:xfrm>
            <a:off x="911334" y="4086421"/>
            <a:ext cx="3876675" cy="1628775"/>
          </a:xfrm>
          <a:prstGeom prst="rect">
            <a:avLst/>
          </a:prstGeom>
        </p:spPr>
      </p:pic>
    </p:spTree>
    <p:extLst>
      <p:ext uri="{BB962C8B-B14F-4D97-AF65-F5344CB8AC3E}">
        <p14:creationId xmlns:p14="http://schemas.microsoft.com/office/powerpoint/2010/main" val="1670104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BA4C-BD45-E0DF-EC05-2A65812C5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EE60D2-64BB-FB5E-2AC3-23FE224BE22B}"/>
              </a:ext>
            </a:extLst>
          </p:cNvPr>
          <p:cNvSpPr>
            <a:spLocks noGrp="1"/>
          </p:cNvSpPr>
          <p:nvPr>
            <p:ph type="title"/>
          </p:nvPr>
        </p:nvSpPr>
        <p:spPr>
          <a:xfrm>
            <a:off x="909303" y="5691"/>
            <a:ext cx="10357666" cy="848979"/>
          </a:xfrm>
        </p:spPr>
        <p:txBody>
          <a:bodyPr/>
          <a:lstStyle/>
          <a:p>
            <a:r>
              <a:rPr lang="en-US"/>
              <a:t>Code analysis (Theoretical)</a:t>
            </a:r>
          </a:p>
        </p:txBody>
      </p:sp>
      <p:pic>
        <p:nvPicPr>
          <p:cNvPr id="9" name="Picture 8">
            <a:extLst>
              <a:ext uri="{FF2B5EF4-FFF2-40B4-BE49-F238E27FC236}">
                <a16:creationId xmlns:a16="http://schemas.microsoft.com/office/drawing/2014/main" id="{021A8C62-25B0-9DC7-1D91-35993780B0E7}"/>
              </a:ext>
            </a:extLst>
          </p:cNvPr>
          <p:cNvPicPr>
            <a:picLocks noChangeAspect="1"/>
          </p:cNvPicPr>
          <p:nvPr/>
        </p:nvPicPr>
        <p:blipFill>
          <a:blip r:embed="rId3"/>
          <a:stretch>
            <a:fillRect/>
          </a:stretch>
        </p:blipFill>
        <p:spPr>
          <a:xfrm>
            <a:off x="274878" y="2430493"/>
            <a:ext cx="5114925" cy="990600"/>
          </a:xfrm>
          <a:prstGeom prst="rect">
            <a:avLst/>
          </a:prstGeom>
        </p:spPr>
      </p:pic>
      <p:sp>
        <p:nvSpPr>
          <p:cNvPr id="5" name="Arrow: Right 4">
            <a:extLst>
              <a:ext uri="{FF2B5EF4-FFF2-40B4-BE49-F238E27FC236}">
                <a16:creationId xmlns:a16="http://schemas.microsoft.com/office/drawing/2014/main" id="{7CCB0235-3556-AE8E-2C1A-C2FAC6350672}"/>
              </a:ext>
            </a:extLst>
          </p:cNvPr>
          <p:cNvSpPr/>
          <p:nvPr/>
        </p:nvSpPr>
        <p:spPr>
          <a:xfrm>
            <a:off x="5699509" y="2705511"/>
            <a:ext cx="547779" cy="443440"/>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1DEF10C-0CA8-1E06-1FE7-3DF973A0EA96}"/>
              </a:ext>
            </a:extLst>
          </p:cNvPr>
          <p:cNvSpPr txBox="1"/>
          <p:nvPr/>
        </p:nvSpPr>
        <p:spPr>
          <a:xfrm>
            <a:off x="6556627" y="1287732"/>
            <a:ext cx="5095554"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t>Vertex Heap Pop</a:t>
            </a:r>
          </a:p>
          <a:p>
            <a:pPr marL="285750" indent="-285750">
              <a:buFont typeface="Arial"/>
              <a:buChar char="•"/>
            </a:pPr>
            <a:r>
              <a:rPr lang="en-US">
                <a:ea typeface="+mn-lt"/>
                <a:cs typeface="+mn-lt"/>
              </a:rPr>
              <a:t>At each step, we pick the vertex with the smallest tentative distance from the min-heap.</a:t>
            </a:r>
          </a:p>
          <a:p>
            <a:pPr marL="285750" indent="-285750">
              <a:buFont typeface="Arial"/>
              <a:buChar char="•"/>
            </a:pPr>
            <a:endParaRPr lang="en-US">
              <a:ea typeface="+mn-lt"/>
              <a:cs typeface="+mn-lt"/>
            </a:endParaRPr>
          </a:p>
          <a:p>
            <a:pPr marL="285750" indent="-285750">
              <a:buFont typeface="Arial"/>
              <a:buChar char="•"/>
            </a:pPr>
            <a:r>
              <a:rPr lang="en-US">
                <a:ea typeface="+mn-lt"/>
                <a:cs typeface="+mn-lt"/>
              </a:rPr>
              <a:t>focus on the closest vertex to finalize its shortest path.</a:t>
            </a:r>
            <a:endParaRPr lang="en-US"/>
          </a:p>
          <a:p>
            <a:pPr marL="285750" indent="-285750">
              <a:buFont typeface="Arial"/>
              <a:buChar char="•"/>
            </a:pPr>
            <a:endParaRPr lang="en-US">
              <a:ea typeface="+mn-lt"/>
              <a:cs typeface="+mn-lt"/>
            </a:endParaRPr>
          </a:p>
          <a:p>
            <a:pPr marL="285750" indent="-285750">
              <a:buFont typeface="Arial"/>
              <a:buChar char="•"/>
            </a:pPr>
            <a:r>
              <a:rPr lang="en-US">
                <a:ea typeface="+mn-lt"/>
                <a:cs typeface="+mn-lt"/>
              </a:rPr>
              <a:t>Once a vertex is popped, its shortest distance is finalized, and we then check its neighbors.</a:t>
            </a:r>
          </a:p>
          <a:p>
            <a:pPr marL="285750" indent="-285750">
              <a:buFont typeface="Arial"/>
              <a:buChar char="•"/>
            </a:pPr>
            <a:endParaRPr lang="en-US">
              <a:ea typeface="+mn-lt"/>
              <a:cs typeface="+mn-lt"/>
            </a:endParaRPr>
          </a:p>
          <a:p>
            <a:pPr marL="285750" indent="-285750">
              <a:buFont typeface="Arial"/>
              <a:buChar char="•"/>
            </a:pPr>
            <a:r>
              <a:rPr lang="en-US">
                <a:ea typeface="+mn-lt"/>
                <a:cs typeface="+mn-lt"/>
              </a:rPr>
              <a:t>Each pop from a min-heap is O(log |V|).</a:t>
            </a:r>
          </a:p>
          <a:p>
            <a:pPr marL="285750" indent="-285750">
              <a:buFont typeface="Arial"/>
              <a:buChar char="•"/>
            </a:pPr>
            <a:endParaRPr lang="en-US">
              <a:ea typeface="+mn-lt"/>
              <a:cs typeface="+mn-lt"/>
            </a:endParaRPr>
          </a:p>
          <a:p>
            <a:pPr marL="285750" indent="-285750">
              <a:buFont typeface="Arial"/>
              <a:buChar char="•"/>
            </a:pPr>
            <a:r>
              <a:rPr lang="en-US">
                <a:ea typeface="+mn-lt"/>
                <a:cs typeface="+mn-lt"/>
              </a:rPr>
              <a:t>We do this once per vertex, since a vertex is popped exactly when its shortest distance is finalized: ∣V∣×O(log∣V∣)=O(∣V∣log∣V∣) </a:t>
            </a:r>
          </a:p>
          <a:p>
            <a:pPr>
              <a:buFont typeface="Arial"/>
              <a:buChar char="•"/>
            </a:pPr>
            <a:endParaRPr lang="en-US">
              <a:ea typeface="+mn-lt"/>
              <a:cs typeface="+mn-lt"/>
            </a:endParaRPr>
          </a:p>
          <a:p>
            <a:pPr marL="285750" indent="-285750">
              <a:buFont typeface="Arial"/>
              <a:buChar char="•"/>
            </a:pPr>
            <a:r>
              <a:rPr lang="en-US"/>
              <a:t>Thus, </a:t>
            </a:r>
            <a:r>
              <a:rPr lang="en-US" b="1"/>
              <a:t>O(|V| log |V|)</a:t>
            </a:r>
          </a:p>
          <a:p>
            <a:endParaRPr lang="en-US"/>
          </a:p>
        </p:txBody>
      </p:sp>
      <p:pic>
        <p:nvPicPr>
          <p:cNvPr id="3" name="Picture 2">
            <a:extLst>
              <a:ext uri="{FF2B5EF4-FFF2-40B4-BE49-F238E27FC236}">
                <a16:creationId xmlns:a16="http://schemas.microsoft.com/office/drawing/2014/main" id="{1BFA60FE-F9D0-7AC5-895F-B826CA2C76E4}"/>
              </a:ext>
            </a:extLst>
          </p:cNvPr>
          <p:cNvPicPr>
            <a:picLocks noChangeAspect="1"/>
          </p:cNvPicPr>
          <p:nvPr/>
        </p:nvPicPr>
        <p:blipFill>
          <a:blip r:embed="rId4"/>
          <a:stretch>
            <a:fillRect/>
          </a:stretch>
        </p:blipFill>
        <p:spPr>
          <a:xfrm>
            <a:off x="907876" y="4474271"/>
            <a:ext cx="3695700" cy="1771650"/>
          </a:xfrm>
          <a:prstGeom prst="rect">
            <a:avLst/>
          </a:prstGeom>
        </p:spPr>
      </p:pic>
    </p:spTree>
    <p:extLst>
      <p:ext uri="{BB962C8B-B14F-4D97-AF65-F5344CB8AC3E}">
        <p14:creationId xmlns:p14="http://schemas.microsoft.com/office/powerpoint/2010/main" val="2417356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F4FDA-323A-8187-158C-6F84C8BA72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F0FC6-3B03-966C-20FA-F12F538A83B8}"/>
              </a:ext>
            </a:extLst>
          </p:cNvPr>
          <p:cNvSpPr>
            <a:spLocks noGrp="1"/>
          </p:cNvSpPr>
          <p:nvPr>
            <p:ph type="title"/>
          </p:nvPr>
        </p:nvSpPr>
        <p:spPr>
          <a:xfrm>
            <a:off x="909303" y="5691"/>
            <a:ext cx="10357666" cy="848979"/>
          </a:xfrm>
        </p:spPr>
        <p:txBody>
          <a:bodyPr/>
          <a:lstStyle/>
          <a:p>
            <a:r>
              <a:rPr lang="en-US"/>
              <a:t>Code analysis (Theoretical)</a:t>
            </a:r>
          </a:p>
        </p:txBody>
      </p:sp>
      <p:pic>
        <p:nvPicPr>
          <p:cNvPr id="10" name="Picture 9">
            <a:extLst>
              <a:ext uri="{FF2B5EF4-FFF2-40B4-BE49-F238E27FC236}">
                <a16:creationId xmlns:a16="http://schemas.microsoft.com/office/drawing/2014/main" id="{D2B46FE6-D200-129A-C4F0-40107F1D4857}"/>
              </a:ext>
            </a:extLst>
          </p:cNvPr>
          <p:cNvPicPr>
            <a:picLocks noChangeAspect="1"/>
          </p:cNvPicPr>
          <p:nvPr/>
        </p:nvPicPr>
        <p:blipFill>
          <a:blip r:embed="rId3"/>
          <a:stretch>
            <a:fillRect/>
          </a:stretch>
        </p:blipFill>
        <p:spPr>
          <a:xfrm>
            <a:off x="280090" y="3643942"/>
            <a:ext cx="5104502" cy="1252268"/>
          </a:xfrm>
          <a:prstGeom prst="rect">
            <a:avLst/>
          </a:prstGeom>
        </p:spPr>
      </p:pic>
      <p:sp>
        <p:nvSpPr>
          <p:cNvPr id="6" name="Arrow: Right 5">
            <a:extLst>
              <a:ext uri="{FF2B5EF4-FFF2-40B4-BE49-F238E27FC236}">
                <a16:creationId xmlns:a16="http://schemas.microsoft.com/office/drawing/2014/main" id="{F47DF03D-EAB4-363E-8A4F-0E2A98271ED5}"/>
              </a:ext>
            </a:extLst>
          </p:cNvPr>
          <p:cNvSpPr/>
          <p:nvPr/>
        </p:nvSpPr>
        <p:spPr>
          <a:xfrm>
            <a:off x="5699510" y="3937238"/>
            <a:ext cx="547779" cy="443440"/>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C1E7786-96C1-5DCB-9D04-BF5314F44D23}"/>
              </a:ext>
            </a:extLst>
          </p:cNvPr>
          <p:cNvSpPr txBox="1"/>
          <p:nvPr/>
        </p:nvSpPr>
        <p:spPr>
          <a:xfrm>
            <a:off x="6611856" y="1719013"/>
            <a:ext cx="5273313"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t>Update distance in edges of vertices to its </a:t>
            </a:r>
            <a:r>
              <a:rPr lang="en-US" b="1" u="sng" err="1"/>
              <a:t>neighbour</a:t>
            </a:r>
          </a:p>
          <a:p>
            <a:pPr marL="285750" indent="-285750">
              <a:buFont typeface="Arial"/>
              <a:buChar char="•"/>
            </a:pPr>
            <a:r>
              <a:rPr lang="en-US">
                <a:ea typeface="+mn-lt"/>
                <a:cs typeface="+mn-lt"/>
              </a:rPr>
              <a:t>After popping a vertex, we look at all its neighbors.</a:t>
            </a:r>
          </a:p>
          <a:p>
            <a:pPr marL="285750" indent="-285750">
              <a:buFont typeface="Arial"/>
              <a:buChar char="•"/>
            </a:pPr>
            <a:endParaRPr lang="en-US">
              <a:ea typeface="+mn-lt"/>
              <a:cs typeface="+mn-lt"/>
            </a:endParaRPr>
          </a:p>
          <a:p>
            <a:pPr marL="285750" indent="-285750">
              <a:buFont typeface="Arial"/>
              <a:buChar char="•"/>
            </a:pPr>
            <a:r>
              <a:rPr lang="en-US">
                <a:ea typeface="+mn-lt"/>
                <a:cs typeface="+mn-lt"/>
              </a:rPr>
              <a:t>If we find a shorter path through the popped vertex, we update the neighbor’s distance and push it into the heap.</a:t>
            </a:r>
          </a:p>
          <a:p>
            <a:pPr marL="285750" indent="-285750">
              <a:buFont typeface="Arial"/>
              <a:buChar char="•"/>
            </a:pPr>
            <a:endParaRPr lang="en-US">
              <a:ea typeface="+mn-lt"/>
              <a:cs typeface="+mn-lt"/>
            </a:endParaRPr>
          </a:p>
          <a:p>
            <a:pPr marL="285750" indent="-285750">
              <a:buFont typeface="Arial"/>
              <a:buChar char="•"/>
            </a:pPr>
            <a:r>
              <a:rPr lang="en-US">
                <a:ea typeface="+mn-lt"/>
                <a:cs typeface="+mn-lt"/>
              </a:rPr>
              <a:t>Each edge may cause a heap push, which costs: </a:t>
            </a:r>
            <a:br>
              <a:rPr lang="en-US">
                <a:ea typeface="+mn-lt"/>
                <a:cs typeface="+mn-lt"/>
              </a:rPr>
            </a:br>
            <a:r>
              <a:rPr lang="en-US">
                <a:ea typeface="+mn-lt"/>
                <a:cs typeface="+mn-lt"/>
              </a:rPr>
              <a:t>O(log |V|).</a:t>
            </a:r>
          </a:p>
          <a:p>
            <a:pPr marL="285750" indent="-285750">
              <a:buFont typeface="Arial"/>
              <a:buChar char="•"/>
            </a:pPr>
            <a:endParaRPr lang="en-US">
              <a:ea typeface="+mn-lt"/>
              <a:cs typeface="+mn-lt"/>
            </a:endParaRPr>
          </a:p>
          <a:p>
            <a:pPr marL="285750" indent="-285750">
              <a:buFont typeface="Arial"/>
              <a:buChar char="•"/>
            </a:pPr>
            <a:r>
              <a:rPr lang="en-US">
                <a:ea typeface="+mn-lt"/>
                <a:cs typeface="+mn-lt"/>
              </a:rPr>
              <a:t>Across all edges, we perform this </a:t>
            </a:r>
            <a:r>
              <a:rPr lang="en-US" err="1">
                <a:ea typeface="+mn-lt"/>
                <a:cs typeface="+mn-lt"/>
              </a:rPr>
              <a:t>atmost</a:t>
            </a:r>
            <a:r>
              <a:rPr lang="en-US">
                <a:ea typeface="+mn-lt"/>
                <a:cs typeface="+mn-lt"/>
              </a:rPr>
              <a:t> once per edge:</a:t>
            </a:r>
            <a:br>
              <a:rPr lang="en-US">
                <a:ea typeface="+mn-lt"/>
                <a:cs typeface="+mn-lt"/>
              </a:rPr>
            </a:br>
            <a:r>
              <a:rPr lang="en-US">
                <a:ea typeface="+mn-lt"/>
                <a:cs typeface="+mn-lt"/>
              </a:rPr>
              <a:t>∣E∣×O(log⁡∣V∣) = O(∣</a:t>
            </a:r>
            <a:r>
              <a:rPr lang="en-US" err="1">
                <a:ea typeface="+mn-lt"/>
                <a:cs typeface="+mn-lt"/>
              </a:rPr>
              <a:t>E∣log∣V</a:t>
            </a:r>
            <a:r>
              <a:rPr lang="en-US">
                <a:ea typeface="+mn-lt"/>
                <a:cs typeface="+mn-lt"/>
              </a:rPr>
              <a:t>∣)</a:t>
            </a:r>
            <a:endParaRPr lang="en-US"/>
          </a:p>
          <a:p>
            <a:endParaRPr lang="en-US"/>
          </a:p>
          <a:p>
            <a:pPr marL="285750" indent="-285750">
              <a:buFont typeface="Arial,Sans-Serif"/>
              <a:buChar char="•"/>
            </a:pPr>
            <a:r>
              <a:rPr lang="en-US"/>
              <a:t>Thus, </a:t>
            </a:r>
            <a:r>
              <a:rPr lang="en-US" b="1"/>
              <a:t>O(|E| log |V|)</a:t>
            </a:r>
          </a:p>
          <a:p>
            <a:pPr marL="285750" indent="-285750">
              <a:buFont typeface="Arial"/>
              <a:buChar char="•"/>
            </a:pPr>
            <a:endParaRPr lang="en-US"/>
          </a:p>
          <a:p>
            <a:pPr marL="285750" indent="-285750">
              <a:buFont typeface="Arial"/>
              <a:buChar char="•"/>
            </a:pPr>
            <a:endParaRPr lang="en-US"/>
          </a:p>
          <a:p>
            <a:endParaRPr lang="en-US"/>
          </a:p>
          <a:p>
            <a:endParaRPr lang="en-US"/>
          </a:p>
        </p:txBody>
      </p:sp>
      <p:pic>
        <p:nvPicPr>
          <p:cNvPr id="3" name="Picture 2">
            <a:extLst>
              <a:ext uri="{FF2B5EF4-FFF2-40B4-BE49-F238E27FC236}">
                <a16:creationId xmlns:a16="http://schemas.microsoft.com/office/drawing/2014/main" id="{8529E3A5-FDC4-F91A-8930-4B966551F385}"/>
              </a:ext>
            </a:extLst>
          </p:cNvPr>
          <p:cNvPicPr>
            <a:picLocks noChangeAspect="1"/>
          </p:cNvPicPr>
          <p:nvPr/>
        </p:nvPicPr>
        <p:blipFill>
          <a:blip r:embed="rId4"/>
          <a:stretch>
            <a:fillRect/>
          </a:stretch>
        </p:blipFill>
        <p:spPr>
          <a:xfrm>
            <a:off x="4306" y="5375100"/>
            <a:ext cx="2841060" cy="1233031"/>
          </a:xfrm>
          <a:prstGeom prst="rect">
            <a:avLst/>
          </a:prstGeom>
        </p:spPr>
      </p:pic>
      <p:sp>
        <p:nvSpPr>
          <p:cNvPr id="4" name="Arrow: Right 3">
            <a:extLst>
              <a:ext uri="{FF2B5EF4-FFF2-40B4-BE49-F238E27FC236}">
                <a16:creationId xmlns:a16="http://schemas.microsoft.com/office/drawing/2014/main" id="{15D0D8AE-EB57-29C3-54A9-B6800837EC34}"/>
              </a:ext>
            </a:extLst>
          </p:cNvPr>
          <p:cNvSpPr/>
          <p:nvPr/>
        </p:nvSpPr>
        <p:spPr>
          <a:xfrm>
            <a:off x="3048167" y="5763950"/>
            <a:ext cx="547779" cy="443440"/>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9D0098-35E9-D7A6-1621-41B78816178A}"/>
              </a:ext>
            </a:extLst>
          </p:cNvPr>
          <p:cNvPicPr>
            <a:picLocks noChangeAspect="1"/>
          </p:cNvPicPr>
          <p:nvPr/>
        </p:nvPicPr>
        <p:blipFill>
          <a:blip r:embed="rId5"/>
          <a:stretch>
            <a:fillRect/>
          </a:stretch>
        </p:blipFill>
        <p:spPr>
          <a:xfrm>
            <a:off x="3595687" y="5262301"/>
            <a:ext cx="2839886" cy="1343808"/>
          </a:xfrm>
          <a:prstGeom prst="rect">
            <a:avLst/>
          </a:prstGeom>
        </p:spPr>
      </p:pic>
    </p:spTree>
    <p:extLst>
      <p:ext uri="{BB962C8B-B14F-4D97-AF65-F5344CB8AC3E}">
        <p14:creationId xmlns:p14="http://schemas.microsoft.com/office/powerpoint/2010/main" val="2793252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2D5B8-DF5C-7409-FB51-A024373E59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81A6F-AD61-6F78-1B69-A69FA4E60E5C}"/>
              </a:ext>
            </a:extLst>
          </p:cNvPr>
          <p:cNvSpPr>
            <a:spLocks noGrp="1"/>
          </p:cNvSpPr>
          <p:nvPr>
            <p:ph type="title"/>
          </p:nvPr>
        </p:nvSpPr>
        <p:spPr>
          <a:xfrm>
            <a:off x="909303" y="5691"/>
            <a:ext cx="10357666" cy="848979"/>
          </a:xfrm>
        </p:spPr>
        <p:txBody>
          <a:bodyPr/>
          <a:lstStyle/>
          <a:p>
            <a:r>
              <a:rPr lang="en-US"/>
              <a:t>Code analysis (Theoretical)</a:t>
            </a:r>
          </a:p>
        </p:txBody>
      </p:sp>
      <p:sp>
        <p:nvSpPr>
          <p:cNvPr id="13" name="TextBox 12">
            <a:extLst>
              <a:ext uri="{FF2B5EF4-FFF2-40B4-BE49-F238E27FC236}">
                <a16:creationId xmlns:a16="http://schemas.microsoft.com/office/drawing/2014/main" id="{AD9EB10A-36BF-60E7-ED86-4C2EBF918008}"/>
              </a:ext>
            </a:extLst>
          </p:cNvPr>
          <p:cNvSpPr txBox="1"/>
          <p:nvPr/>
        </p:nvSpPr>
        <p:spPr>
          <a:xfrm>
            <a:off x="2967351" y="2794733"/>
            <a:ext cx="62336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t>Total Time Complexity:</a:t>
            </a:r>
            <a:endParaRPr lang="en-US"/>
          </a:p>
          <a:p>
            <a:r>
              <a:rPr lang="en-US"/>
              <a:t>O(|V|) + O(|V| log |V|) + O(|E| log |V|) = </a:t>
            </a:r>
            <a:r>
              <a:rPr lang="en-US" b="1"/>
              <a:t>O[(|V| + |E|) log |V| ]</a:t>
            </a:r>
          </a:p>
        </p:txBody>
      </p:sp>
    </p:spTree>
    <p:extLst>
      <p:ext uri="{BB962C8B-B14F-4D97-AF65-F5344CB8AC3E}">
        <p14:creationId xmlns:p14="http://schemas.microsoft.com/office/powerpoint/2010/main" val="2977049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A2604-F91A-21E5-4711-F5CE88DD9FD7}"/>
              </a:ext>
            </a:extLst>
          </p:cNvPr>
          <p:cNvSpPr>
            <a:spLocks noGrp="1"/>
          </p:cNvSpPr>
          <p:nvPr>
            <p:ph type="title"/>
          </p:nvPr>
        </p:nvSpPr>
        <p:spPr>
          <a:xfrm>
            <a:off x="808661" y="152213"/>
            <a:ext cx="10357666" cy="791469"/>
          </a:xfrm>
        </p:spPr>
        <p:txBody>
          <a:bodyPr/>
          <a:lstStyle/>
          <a:p>
            <a:r>
              <a:rPr lang="en-US"/>
              <a:t>Min Heap Priority Queue</a:t>
            </a:r>
          </a:p>
        </p:txBody>
      </p:sp>
      <p:pic>
        <p:nvPicPr>
          <p:cNvPr id="4" name="Content Placeholder 3">
            <a:extLst>
              <a:ext uri="{FF2B5EF4-FFF2-40B4-BE49-F238E27FC236}">
                <a16:creationId xmlns:a16="http://schemas.microsoft.com/office/drawing/2014/main" id="{460ACBF7-8764-96B6-0FF4-505FDC6AFB49}"/>
              </a:ext>
            </a:extLst>
          </p:cNvPr>
          <p:cNvPicPr>
            <a:picLocks noGrp="1" noChangeAspect="1"/>
          </p:cNvPicPr>
          <p:nvPr>
            <p:ph idx="1"/>
          </p:nvPr>
        </p:nvPicPr>
        <p:blipFill>
          <a:blip r:embed="rId3"/>
          <a:stretch>
            <a:fillRect/>
          </a:stretch>
        </p:blipFill>
        <p:spPr>
          <a:xfrm>
            <a:off x="804230" y="1033727"/>
            <a:ext cx="1899957" cy="444313"/>
          </a:xfrm>
          <a:prstGeom prst="rect">
            <a:avLst/>
          </a:prstGeom>
        </p:spPr>
      </p:pic>
      <p:sp>
        <p:nvSpPr>
          <p:cNvPr id="3" name="TextBox 2">
            <a:extLst>
              <a:ext uri="{FF2B5EF4-FFF2-40B4-BE49-F238E27FC236}">
                <a16:creationId xmlns:a16="http://schemas.microsoft.com/office/drawing/2014/main" id="{A481DC8E-B1F1-4FEB-4FBE-458FA15A7FE1}"/>
              </a:ext>
            </a:extLst>
          </p:cNvPr>
          <p:cNvSpPr txBox="1"/>
          <p:nvPr/>
        </p:nvSpPr>
        <p:spPr>
          <a:xfrm>
            <a:off x="694765" y="1613648"/>
            <a:ext cx="1100417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t>What a Heap Queue?</a:t>
            </a:r>
            <a:br>
              <a:rPr lang="en-US"/>
            </a:br>
            <a:r>
              <a:rPr lang="en-US"/>
              <a:t>A heap queue (also called a priority queue) is a special data structure that allows quick access to the smallest (min-heap) or largest (max-heap) element.</a:t>
            </a:r>
          </a:p>
        </p:txBody>
      </p:sp>
      <p:sp>
        <p:nvSpPr>
          <p:cNvPr id="5" name="TextBox 4">
            <a:extLst>
              <a:ext uri="{FF2B5EF4-FFF2-40B4-BE49-F238E27FC236}">
                <a16:creationId xmlns:a16="http://schemas.microsoft.com/office/drawing/2014/main" id="{36FACC3B-D811-BF08-D07F-2EE9BB8E4E7B}"/>
              </a:ext>
            </a:extLst>
          </p:cNvPr>
          <p:cNvSpPr txBox="1"/>
          <p:nvPr/>
        </p:nvSpPr>
        <p:spPr>
          <a:xfrm>
            <a:off x="689267" y="3149276"/>
            <a:ext cx="10645588"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t>Why use Min-Heap?</a:t>
            </a:r>
          </a:p>
          <a:p>
            <a:pPr marL="285750" indent="-285750">
              <a:buFont typeface="Arial,Sans-Serif"/>
              <a:buChar char="•"/>
            </a:pPr>
            <a:r>
              <a:rPr lang="en-US"/>
              <a:t>Provides an efficient way to implement priority queues using heaps:</a:t>
            </a:r>
          </a:p>
          <a:p>
            <a:pPr marL="685800" lvl="1" indent="-228600">
              <a:buFont typeface="Courier New"/>
              <a:buChar char="o"/>
            </a:pPr>
            <a:r>
              <a:rPr lang="en-US"/>
              <a:t>At each step, Dijkstra needs the vertex with the smallest tentative distance.</a:t>
            </a:r>
          </a:p>
          <a:p>
            <a:pPr marL="685800" lvl="1" indent="-228600">
              <a:buFont typeface="Courier New"/>
              <a:buChar char="o"/>
            </a:pPr>
            <a:endParaRPr lang="en-US"/>
          </a:p>
          <a:p>
            <a:pPr marL="685800" lvl="1" indent="-228600">
              <a:buFont typeface="Courier New"/>
              <a:buChar char="o"/>
            </a:pPr>
            <a:r>
              <a:rPr lang="en-US"/>
              <a:t>Without a heap, we’d scan all |V| vertices → </a:t>
            </a:r>
            <a:r>
              <a:rPr lang="en-US" b="1"/>
              <a:t>O(|V|) per extraction</a:t>
            </a:r>
            <a:r>
              <a:rPr lang="en-US"/>
              <a:t>.</a:t>
            </a:r>
          </a:p>
          <a:p>
            <a:pPr marL="685800" lvl="1" indent="-228600">
              <a:buFont typeface="Courier New"/>
              <a:buChar char="o"/>
            </a:pPr>
            <a:endParaRPr lang="en-US"/>
          </a:p>
          <a:p>
            <a:pPr marL="742950" lvl="1" indent="-285750">
              <a:buFont typeface="Courier New"/>
              <a:buChar char="o"/>
            </a:pPr>
            <a:r>
              <a:rPr lang="en-US"/>
              <a:t>With a min-heap,The smallest-distance vertex is always at the top → heappop() takes </a:t>
            </a:r>
            <a:r>
              <a:rPr lang="en-US" b="1"/>
              <a:t>O(log |V|) </a:t>
            </a:r>
            <a:r>
              <a:rPr lang="en-US"/>
              <a:t>and since we extract each vertex exactly once, the totalcost is:  ∣V∣×O(log∣V∣) =</a:t>
            </a:r>
            <a:r>
              <a:rPr lang="en-US" b="1"/>
              <a:t> O(∣V∣log∣V∣)</a:t>
            </a:r>
            <a:r>
              <a:rPr lang="en-US"/>
              <a:t> </a:t>
            </a:r>
          </a:p>
          <a:p>
            <a:pPr marL="285750" indent="-285750">
              <a:buFont typeface="Arial,Sans-Serif"/>
              <a:buChar char="•"/>
            </a:pPr>
            <a:endParaRPr lang="en-US"/>
          </a:p>
          <a:p>
            <a:pPr marL="285750" indent="-285750">
              <a:buFont typeface="Arial,Sans-Serif"/>
              <a:buChar char="•"/>
            </a:pPr>
            <a:r>
              <a:rPr lang="en-US"/>
              <a:t>Helps maintain a list in heap order with minimal code and high performance.</a:t>
            </a:r>
          </a:p>
        </p:txBody>
      </p:sp>
    </p:spTree>
    <p:extLst>
      <p:ext uri="{BB962C8B-B14F-4D97-AF65-F5344CB8AC3E}">
        <p14:creationId xmlns:p14="http://schemas.microsoft.com/office/powerpoint/2010/main" val="3454276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8E11E-BDD9-7DFC-89A6-F9C59A713DEE}"/>
              </a:ext>
            </a:extLst>
          </p:cNvPr>
          <p:cNvSpPr>
            <a:spLocks noGrp="1"/>
          </p:cNvSpPr>
          <p:nvPr>
            <p:ph type="title"/>
          </p:nvPr>
        </p:nvSpPr>
        <p:spPr>
          <a:xfrm>
            <a:off x="808661" y="365125"/>
            <a:ext cx="10285780" cy="848979"/>
          </a:xfrm>
        </p:spPr>
        <p:txBody>
          <a:bodyPr/>
          <a:lstStyle/>
          <a:p>
            <a:r>
              <a:rPr lang="en-US"/>
              <a:t>Preparing the </a:t>
            </a:r>
            <a:r>
              <a:rPr lang="en-GB"/>
              <a:t>Empirical analysis</a:t>
            </a:r>
            <a:endParaRPr lang="en-US"/>
          </a:p>
        </p:txBody>
      </p:sp>
      <p:pic>
        <p:nvPicPr>
          <p:cNvPr id="4" name="Content Placeholder 3">
            <a:extLst>
              <a:ext uri="{FF2B5EF4-FFF2-40B4-BE49-F238E27FC236}">
                <a16:creationId xmlns:a16="http://schemas.microsoft.com/office/drawing/2014/main" id="{2F055894-FBA6-56B2-4C51-2D034B7CD918}"/>
              </a:ext>
            </a:extLst>
          </p:cNvPr>
          <p:cNvPicPr>
            <a:picLocks noGrp="1" noChangeAspect="1"/>
          </p:cNvPicPr>
          <p:nvPr>
            <p:ph idx="1"/>
          </p:nvPr>
        </p:nvPicPr>
        <p:blipFill>
          <a:blip r:embed="rId2"/>
          <a:stretch>
            <a:fillRect/>
          </a:stretch>
        </p:blipFill>
        <p:spPr>
          <a:xfrm>
            <a:off x="455756" y="3176498"/>
            <a:ext cx="5191125" cy="1371600"/>
          </a:xfrm>
          <a:prstGeom prst="rect">
            <a:avLst/>
          </a:prstGeom>
        </p:spPr>
      </p:pic>
      <p:sp>
        <p:nvSpPr>
          <p:cNvPr id="6" name="TextBox 5">
            <a:extLst>
              <a:ext uri="{FF2B5EF4-FFF2-40B4-BE49-F238E27FC236}">
                <a16:creationId xmlns:a16="http://schemas.microsoft.com/office/drawing/2014/main" id="{0C814BF1-91B4-9C31-E22C-8A67568C3D16}"/>
              </a:ext>
            </a:extLst>
          </p:cNvPr>
          <p:cNvSpPr txBox="1"/>
          <p:nvPr/>
        </p:nvSpPr>
        <p:spPr>
          <a:xfrm>
            <a:off x="6404310" y="3173184"/>
            <a:ext cx="4972289"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latin typeface="Avenir Next LT Pro"/>
                <a:cs typeface="Arial"/>
              </a:rPr>
              <a:t>Why Edge Multiplier</a:t>
            </a:r>
            <a:r>
              <a:rPr lang="en-US" b="1" u="sng">
                <a:solidFill>
                  <a:srgbClr val="000000"/>
                </a:solidFill>
                <a:latin typeface="Avenir Next LT Pro"/>
                <a:cs typeface="Arial"/>
              </a:rPr>
              <a:t> </a:t>
            </a:r>
            <a:r>
              <a:rPr lang="en-US" b="1" u="sng">
                <a:latin typeface="Avenir Next LT Pro"/>
                <a:cs typeface="Arial"/>
              </a:rPr>
              <a:t>is 10?</a:t>
            </a:r>
            <a:endParaRPr lang="en-US"/>
          </a:p>
          <a:p>
            <a:pPr marL="285750" indent="-285750">
              <a:buFont typeface="Arial"/>
              <a:buChar char="•"/>
            </a:pPr>
            <a:r>
              <a:rPr lang="en-US">
                <a:ea typeface="+mn-lt"/>
                <a:cs typeface="+mn-lt"/>
              </a:rPr>
              <a:t>a middle ground for sparse graphs</a:t>
            </a:r>
          </a:p>
          <a:p>
            <a:pPr marL="285750" indent="-285750">
              <a:buFont typeface="Arial"/>
              <a:buChar char="•"/>
            </a:pPr>
            <a:endParaRPr lang="en-US">
              <a:ea typeface="+mn-lt"/>
              <a:cs typeface="+mn-lt"/>
            </a:endParaRPr>
          </a:p>
          <a:p>
            <a:pPr marL="285750" indent="-285750">
              <a:buFont typeface="Arial"/>
              <a:buChar char="•"/>
            </a:pPr>
            <a:r>
              <a:rPr lang="en-US">
                <a:ea typeface="+mn-lt"/>
                <a:cs typeface="+mn-lt"/>
              </a:rPr>
              <a:t>ensures each vertex has multiple neighbors, making Dijkstra’s algorithm do a meaningful number of relaxations.</a:t>
            </a:r>
            <a:endParaRPr lang="en-US"/>
          </a:p>
          <a:p>
            <a:pPr marL="285750" indent="-285750">
              <a:buFont typeface="Arial"/>
              <a:buChar char="•"/>
            </a:pPr>
            <a:endParaRPr lang="en-US">
              <a:ea typeface="+mn-lt"/>
              <a:cs typeface="+mn-lt"/>
            </a:endParaRPr>
          </a:p>
          <a:p>
            <a:pPr marL="285750" indent="-285750">
              <a:buFont typeface="Arial"/>
              <a:buChar char="•"/>
            </a:pPr>
            <a:r>
              <a:rPr lang="en-US">
                <a:ea typeface="+mn-lt"/>
                <a:cs typeface="+mn-lt"/>
              </a:rPr>
              <a:t>exact multiplier (like 10) doesn’t affect the algorithm’s asymptotic complexity</a:t>
            </a:r>
            <a:endParaRPr lang="en-US"/>
          </a:p>
          <a:p>
            <a:pPr>
              <a:buFont typeface="Arial"/>
            </a:pPr>
            <a:endParaRPr lang="en-US"/>
          </a:p>
          <a:p>
            <a:endParaRPr lang="en-US"/>
          </a:p>
        </p:txBody>
      </p:sp>
    </p:spTree>
    <p:extLst>
      <p:ext uri="{BB962C8B-B14F-4D97-AF65-F5344CB8AC3E}">
        <p14:creationId xmlns:p14="http://schemas.microsoft.com/office/powerpoint/2010/main" val="3052757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1B1E8-3AA8-C344-8468-C15BAF1B1F58}"/>
              </a:ext>
            </a:extLst>
          </p:cNvPr>
          <p:cNvSpPr>
            <a:spLocks noGrp="1"/>
          </p:cNvSpPr>
          <p:nvPr>
            <p:ph type="title"/>
          </p:nvPr>
        </p:nvSpPr>
        <p:spPr>
          <a:xfrm>
            <a:off x="741427" y="96184"/>
            <a:ext cx="10424900" cy="799716"/>
          </a:xfrm>
        </p:spPr>
        <p:txBody>
          <a:bodyPr/>
          <a:lstStyle/>
          <a:p>
            <a:r>
              <a:rPr lang="en-GB"/>
              <a:t>Empirical Graph analysis</a:t>
            </a:r>
            <a:endParaRPr lang="en-US"/>
          </a:p>
        </p:txBody>
      </p:sp>
      <p:pic>
        <p:nvPicPr>
          <p:cNvPr id="4" name="Content Placeholder 3">
            <a:extLst>
              <a:ext uri="{FF2B5EF4-FFF2-40B4-BE49-F238E27FC236}">
                <a16:creationId xmlns:a16="http://schemas.microsoft.com/office/drawing/2014/main" id="{3D2B369B-5E85-9012-10B4-F9BE318EF668}"/>
              </a:ext>
            </a:extLst>
          </p:cNvPr>
          <p:cNvPicPr>
            <a:picLocks noGrp="1" noChangeAspect="1"/>
          </p:cNvPicPr>
          <p:nvPr>
            <p:ph idx="1"/>
          </p:nvPr>
        </p:nvPicPr>
        <p:blipFill>
          <a:blip r:embed="rId2"/>
          <a:stretch>
            <a:fillRect/>
          </a:stretch>
        </p:blipFill>
        <p:spPr>
          <a:xfrm>
            <a:off x="370196" y="893848"/>
            <a:ext cx="5357220" cy="4114801"/>
          </a:xfrm>
          <a:prstGeom prst="rect">
            <a:avLst/>
          </a:prstGeom>
        </p:spPr>
      </p:pic>
      <p:pic>
        <p:nvPicPr>
          <p:cNvPr id="5" name="Picture 4">
            <a:extLst>
              <a:ext uri="{FF2B5EF4-FFF2-40B4-BE49-F238E27FC236}">
                <a16:creationId xmlns:a16="http://schemas.microsoft.com/office/drawing/2014/main" id="{BF6DB66E-40D1-D652-CE4B-FB5AC8378531}"/>
              </a:ext>
            </a:extLst>
          </p:cNvPr>
          <p:cNvPicPr>
            <a:picLocks noChangeAspect="1"/>
          </p:cNvPicPr>
          <p:nvPr/>
        </p:nvPicPr>
        <p:blipFill>
          <a:blip r:embed="rId3"/>
          <a:stretch>
            <a:fillRect/>
          </a:stretch>
        </p:blipFill>
        <p:spPr>
          <a:xfrm>
            <a:off x="1180243" y="5037145"/>
            <a:ext cx="3735512" cy="1815998"/>
          </a:xfrm>
          <a:prstGeom prst="rect">
            <a:avLst/>
          </a:prstGeom>
        </p:spPr>
      </p:pic>
      <p:pic>
        <p:nvPicPr>
          <p:cNvPr id="3" name="Picture 2">
            <a:extLst>
              <a:ext uri="{FF2B5EF4-FFF2-40B4-BE49-F238E27FC236}">
                <a16:creationId xmlns:a16="http://schemas.microsoft.com/office/drawing/2014/main" id="{9FC8288F-AAB9-EB1D-A3E9-F9A47D8B6B62}"/>
              </a:ext>
            </a:extLst>
          </p:cNvPr>
          <p:cNvPicPr>
            <a:picLocks noChangeAspect="1"/>
          </p:cNvPicPr>
          <p:nvPr/>
        </p:nvPicPr>
        <p:blipFill>
          <a:blip r:embed="rId4"/>
          <a:stretch>
            <a:fillRect/>
          </a:stretch>
        </p:blipFill>
        <p:spPr>
          <a:xfrm>
            <a:off x="5855914" y="1142160"/>
            <a:ext cx="5724525" cy="3609975"/>
          </a:xfrm>
          <a:prstGeom prst="rect">
            <a:avLst/>
          </a:prstGeom>
        </p:spPr>
      </p:pic>
    </p:spTree>
    <p:extLst>
      <p:ext uri="{BB962C8B-B14F-4D97-AF65-F5344CB8AC3E}">
        <p14:creationId xmlns:p14="http://schemas.microsoft.com/office/powerpoint/2010/main" val="1624763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7BC46-38F0-086E-68F7-534B15154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8E3B5-9A9A-F40E-541C-1C510C172936}"/>
              </a:ext>
            </a:extLst>
          </p:cNvPr>
          <p:cNvSpPr>
            <a:spLocks noGrp="1"/>
          </p:cNvSpPr>
          <p:nvPr>
            <p:ph type="title"/>
          </p:nvPr>
        </p:nvSpPr>
        <p:spPr>
          <a:xfrm>
            <a:off x="741427" y="96184"/>
            <a:ext cx="10424900" cy="799716"/>
          </a:xfrm>
        </p:spPr>
        <p:txBody>
          <a:bodyPr/>
          <a:lstStyle/>
          <a:p>
            <a:r>
              <a:rPr lang="en-GB"/>
              <a:t>Empirical Graph analysis</a:t>
            </a:r>
            <a:endParaRPr lang="en-US"/>
          </a:p>
        </p:txBody>
      </p:sp>
      <p:sp>
        <p:nvSpPr>
          <p:cNvPr id="5" name="TextBox 4">
            <a:extLst>
              <a:ext uri="{FF2B5EF4-FFF2-40B4-BE49-F238E27FC236}">
                <a16:creationId xmlns:a16="http://schemas.microsoft.com/office/drawing/2014/main" id="{9A1CDB4E-1195-3499-BA1F-1E147566B358}"/>
              </a:ext>
            </a:extLst>
          </p:cNvPr>
          <p:cNvSpPr txBox="1"/>
          <p:nvPr/>
        </p:nvSpPr>
        <p:spPr>
          <a:xfrm>
            <a:off x="991218" y="1186855"/>
            <a:ext cx="382141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Dense Graph</a:t>
            </a:r>
          </a:p>
        </p:txBody>
      </p:sp>
      <p:pic>
        <p:nvPicPr>
          <p:cNvPr id="6" name="Content Placeholder 7">
            <a:extLst>
              <a:ext uri="{FF2B5EF4-FFF2-40B4-BE49-F238E27FC236}">
                <a16:creationId xmlns:a16="http://schemas.microsoft.com/office/drawing/2014/main" id="{4DB467B7-231A-AC2D-A203-34E61978B01E}"/>
              </a:ext>
            </a:extLst>
          </p:cNvPr>
          <p:cNvPicPr>
            <a:picLocks noChangeAspect="1"/>
          </p:cNvPicPr>
          <p:nvPr/>
        </p:nvPicPr>
        <p:blipFill>
          <a:blip r:embed="rId2"/>
          <a:stretch>
            <a:fillRect/>
          </a:stretch>
        </p:blipFill>
        <p:spPr>
          <a:xfrm>
            <a:off x="813152" y="1898347"/>
            <a:ext cx="5486400" cy="4114800"/>
          </a:xfrm>
          <a:prstGeom prst="rect">
            <a:avLst/>
          </a:prstGeom>
        </p:spPr>
      </p:pic>
    </p:spTree>
    <p:extLst>
      <p:ext uri="{BB962C8B-B14F-4D97-AF65-F5344CB8AC3E}">
        <p14:creationId xmlns:p14="http://schemas.microsoft.com/office/powerpoint/2010/main" val="983598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C6D7F-D4C7-214F-56AE-09001BA5D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6971B-D334-5A32-F0A5-6FEE8F67A490}"/>
              </a:ext>
            </a:extLst>
          </p:cNvPr>
          <p:cNvSpPr>
            <a:spLocks noGrp="1"/>
          </p:cNvSpPr>
          <p:nvPr>
            <p:ph type="title"/>
          </p:nvPr>
        </p:nvSpPr>
        <p:spPr>
          <a:xfrm>
            <a:off x="741427" y="96184"/>
            <a:ext cx="10424900" cy="799716"/>
          </a:xfrm>
        </p:spPr>
        <p:txBody>
          <a:bodyPr/>
          <a:lstStyle/>
          <a:p>
            <a:r>
              <a:rPr lang="en-GB"/>
              <a:t>Empirical Graph analysis</a:t>
            </a:r>
            <a:endParaRPr lang="en-US"/>
          </a:p>
        </p:txBody>
      </p:sp>
      <p:pic>
        <p:nvPicPr>
          <p:cNvPr id="8" name="Content Placeholder 7">
            <a:extLst>
              <a:ext uri="{FF2B5EF4-FFF2-40B4-BE49-F238E27FC236}">
                <a16:creationId xmlns:a16="http://schemas.microsoft.com/office/drawing/2014/main" id="{0668FB92-E6F8-0A7E-ACA3-ACD65D56ED8E}"/>
              </a:ext>
            </a:extLst>
          </p:cNvPr>
          <p:cNvPicPr>
            <a:picLocks noGrp="1" noChangeAspect="1"/>
          </p:cNvPicPr>
          <p:nvPr>
            <p:ph idx="1"/>
          </p:nvPr>
        </p:nvPicPr>
        <p:blipFill>
          <a:blip r:embed="rId2"/>
          <a:stretch>
            <a:fillRect/>
          </a:stretch>
        </p:blipFill>
        <p:spPr>
          <a:xfrm>
            <a:off x="5958880" y="1873949"/>
            <a:ext cx="5352431" cy="4114801"/>
          </a:xfrm>
          <a:prstGeom prst="rect">
            <a:avLst/>
          </a:prstGeom>
        </p:spPr>
      </p:pic>
      <p:pic>
        <p:nvPicPr>
          <p:cNvPr id="9" name="Picture 8">
            <a:extLst>
              <a:ext uri="{FF2B5EF4-FFF2-40B4-BE49-F238E27FC236}">
                <a16:creationId xmlns:a16="http://schemas.microsoft.com/office/drawing/2014/main" id="{7CC4EFB4-5A5F-4003-8288-990687501185}"/>
              </a:ext>
            </a:extLst>
          </p:cNvPr>
          <p:cNvPicPr>
            <a:picLocks noChangeAspect="1"/>
          </p:cNvPicPr>
          <p:nvPr/>
        </p:nvPicPr>
        <p:blipFill>
          <a:blip r:embed="rId3"/>
          <a:stretch>
            <a:fillRect/>
          </a:stretch>
        </p:blipFill>
        <p:spPr>
          <a:xfrm>
            <a:off x="633614" y="1834764"/>
            <a:ext cx="5117646" cy="4016829"/>
          </a:xfrm>
          <a:prstGeom prst="rect">
            <a:avLst/>
          </a:prstGeom>
        </p:spPr>
      </p:pic>
      <p:sp>
        <p:nvSpPr>
          <p:cNvPr id="10" name="TextBox 9">
            <a:extLst>
              <a:ext uri="{FF2B5EF4-FFF2-40B4-BE49-F238E27FC236}">
                <a16:creationId xmlns:a16="http://schemas.microsoft.com/office/drawing/2014/main" id="{1F7E968D-6278-3026-D3A9-E5CEE24E8FA6}"/>
              </a:ext>
            </a:extLst>
          </p:cNvPr>
          <p:cNvSpPr txBox="1"/>
          <p:nvPr/>
        </p:nvSpPr>
        <p:spPr>
          <a:xfrm>
            <a:off x="7291091" y="1382669"/>
            <a:ext cx="24535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a:t>Fixed |E|, Varying |V|</a:t>
            </a:r>
            <a:endParaRPr lang="en-US"/>
          </a:p>
          <a:p>
            <a:endParaRPr lang="en-US" u="sng"/>
          </a:p>
        </p:txBody>
      </p:sp>
      <p:sp>
        <p:nvSpPr>
          <p:cNvPr id="11" name="TextBox 10">
            <a:extLst>
              <a:ext uri="{FF2B5EF4-FFF2-40B4-BE49-F238E27FC236}">
                <a16:creationId xmlns:a16="http://schemas.microsoft.com/office/drawing/2014/main" id="{F24C293A-3A87-3902-A92A-86E5B9A4E7E2}"/>
              </a:ext>
            </a:extLst>
          </p:cNvPr>
          <p:cNvSpPr txBox="1"/>
          <p:nvPr/>
        </p:nvSpPr>
        <p:spPr>
          <a:xfrm>
            <a:off x="2666900" y="1340915"/>
            <a:ext cx="2453517" cy="37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a:t>Fixed |V|, Varying |E|</a:t>
            </a:r>
          </a:p>
        </p:txBody>
      </p:sp>
      <p:sp>
        <p:nvSpPr>
          <p:cNvPr id="4" name="TextBox 3">
            <a:extLst>
              <a:ext uri="{FF2B5EF4-FFF2-40B4-BE49-F238E27FC236}">
                <a16:creationId xmlns:a16="http://schemas.microsoft.com/office/drawing/2014/main" id="{B3E2893B-AD97-B953-07AE-6ED210580F1B}"/>
              </a:ext>
            </a:extLst>
          </p:cNvPr>
          <p:cNvSpPr txBox="1"/>
          <p:nvPr/>
        </p:nvSpPr>
        <p:spPr>
          <a:xfrm>
            <a:off x="7199382" y="6195121"/>
            <a:ext cx="264759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O(V log (V))</a:t>
            </a:r>
          </a:p>
        </p:txBody>
      </p:sp>
      <p:sp>
        <p:nvSpPr>
          <p:cNvPr id="5" name="TextBox 4">
            <a:extLst>
              <a:ext uri="{FF2B5EF4-FFF2-40B4-BE49-F238E27FC236}">
                <a16:creationId xmlns:a16="http://schemas.microsoft.com/office/drawing/2014/main" id="{E78E974F-B13B-2E4E-E647-5D4AED3D7D68}"/>
              </a:ext>
            </a:extLst>
          </p:cNvPr>
          <p:cNvSpPr txBox="1"/>
          <p:nvPr/>
        </p:nvSpPr>
        <p:spPr>
          <a:xfrm>
            <a:off x="2063710" y="6195120"/>
            <a:ext cx="264759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O(E log (V))</a:t>
            </a:r>
          </a:p>
        </p:txBody>
      </p:sp>
    </p:spTree>
    <p:extLst>
      <p:ext uri="{BB962C8B-B14F-4D97-AF65-F5344CB8AC3E}">
        <p14:creationId xmlns:p14="http://schemas.microsoft.com/office/powerpoint/2010/main" val="968001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6048FBE-E549-3966-4DD5-C760119B6465}"/>
              </a:ext>
            </a:extLst>
          </p:cNvPr>
          <p:cNvSpPr>
            <a:spLocks noGrp="1"/>
          </p:cNvSpPr>
          <p:nvPr>
            <p:ph type="title"/>
          </p:nvPr>
        </p:nvSpPr>
        <p:spPr>
          <a:xfrm>
            <a:off x="4943154" y="2759285"/>
            <a:ext cx="2305693" cy="914874"/>
          </a:xfrm>
        </p:spPr>
        <p:txBody>
          <a:bodyPr vert="horz" lIns="91440" tIns="45720" rIns="91440" bIns="45720" rtlCol="0" anchor="b">
            <a:noAutofit/>
          </a:bodyPr>
          <a:lstStyle/>
          <a:p>
            <a:r>
              <a:rPr lang="en-US" sz="2400" b="1">
                <a:latin typeface="Open Sans"/>
                <a:ea typeface="Open Sans"/>
                <a:cs typeface="Open Sans"/>
              </a:rPr>
              <a:t>Part (C)</a:t>
            </a:r>
          </a:p>
        </p:txBody>
      </p:sp>
    </p:spTree>
    <p:extLst>
      <p:ext uri="{BB962C8B-B14F-4D97-AF65-F5344CB8AC3E}">
        <p14:creationId xmlns:p14="http://schemas.microsoft.com/office/powerpoint/2010/main" val="720053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0C420-B740-C6CB-707A-44228C5C7407}"/>
              </a:ext>
            </a:extLst>
          </p:cNvPr>
          <p:cNvSpPr>
            <a:spLocks noGrp="1"/>
          </p:cNvSpPr>
          <p:nvPr>
            <p:ph type="title"/>
          </p:nvPr>
        </p:nvSpPr>
        <p:spPr/>
        <p:txBody>
          <a:bodyPr/>
          <a:lstStyle/>
          <a:p>
            <a:r>
              <a:rPr lang="en-US"/>
              <a:t>Time complexities</a:t>
            </a:r>
          </a:p>
        </p:txBody>
      </p:sp>
      <p:graphicFrame>
        <p:nvGraphicFramePr>
          <p:cNvPr id="3" name="Table 2">
            <a:extLst>
              <a:ext uri="{FF2B5EF4-FFF2-40B4-BE49-F238E27FC236}">
                <a16:creationId xmlns:a16="http://schemas.microsoft.com/office/drawing/2014/main" id="{EF4598A4-9910-2A9C-491E-861B6DFA76CD}"/>
              </a:ext>
            </a:extLst>
          </p:cNvPr>
          <p:cNvGraphicFramePr>
            <a:graphicFrameLocks noGrp="1"/>
          </p:cNvGraphicFramePr>
          <p:nvPr>
            <p:extLst>
              <p:ext uri="{D42A27DB-BD31-4B8C-83A1-F6EECF244321}">
                <p14:modId xmlns:p14="http://schemas.microsoft.com/office/powerpoint/2010/main" val="3210098620"/>
              </p:ext>
            </p:extLst>
          </p:nvPr>
        </p:nvGraphicFramePr>
        <p:xfrm>
          <a:off x="1079499" y="2123721"/>
          <a:ext cx="9473499" cy="3393923"/>
        </p:xfrm>
        <a:graphic>
          <a:graphicData uri="http://schemas.openxmlformats.org/drawingml/2006/table">
            <a:tbl>
              <a:tblPr firstRow="1" bandRow="1">
                <a:tableStyleId>{5C22544A-7EE6-4342-B048-85BDC9FD1C3A}</a:tableStyleId>
              </a:tblPr>
              <a:tblGrid>
                <a:gridCol w="3157833">
                  <a:extLst>
                    <a:ext uri="{9D8B030D-6E8A-4147-A177-3AD203B41FA5}">
                      <a16:colId xmlns:a16="http://schemas.microsoft.com/office/drawing/2014/main" val="1596050499"/>
                    </a:ext>
                  </a:extLst>
                </a:gridCol>
                <a:gridCol w="3157833">
                  <a:extLst>
                    <a:ext uri="{9D8B030D-6E8A-4147-A177-3AD203B41FA5}">
                      <a16:colId xmlns:a16="http://schemas.microsoft.com/office/drawing/2014/main" val="3622673715"/>
                    </a:ext>
                  </a:extLst>
                </a:gridCol>
                <a:gridCol w="3157833">
                  <a:extLst>
                    <a:ext uri="{9D8B030D-6E8A-4147-A177-3AD203B41FA5}">
                      <a16:colId xmlns:a16="http://schemas.microsoft.com/office/drawing/2014/main" val="3502673161"/>
                    </a:ext>
                  </a:extLst>
                </a:gridCol>
              </a:tblGrid>
              <a:tr h="1011381">
                <a:tc>
                  <a:txBody>
                    <a:bodyPr/>
                    <a:lstStyle/>
                    <a:p>
                      <a:pPr lvl="0">
                        <a:buNone/>
                      </a:pPr>
                      <a:r>
                        <a:rPr lang="en-GB"/>
                        <a:t>Representation</a:t>
                      </a:r>
                    </a:p>
                  </a:txBody>
                  <a:tcPr/>
                </a:tc>
                <a:tc>
                  <a:txBody>
                    <a:bodyPr/>
                    <a:lstStyle/>
                    <a:p>
                      <a:pPr lvl="0">
                        <a:buNone/>
                      </a:pPr>
                      <a:r>
                        <a:rPr lang="en-GB"/>
                        <a:t>Time Complexity</a:t>
                      </a:r>
                      <a:endParaRPr lang="en-US"/>
                    </a:p>
                  </a:txBody>
                  <a:tcPr/>
                </a:tc>
                <a:tc>
                  <a:txBody>
                    <a:bodyPr/>
                    <a:lstStyle/>
                    <a:p>
                      <a:pPr lvl="0">
                        <a:buNone/>
                      </a:pPr>
                      <a:r>
                        <a:rPr lang="en-GB"/>
                        <a:t>Best for</a:t>
                      </a:r>
                    </a:p>
                  </a:txBody>
                  <a:tcPr/>
                </a:tc>
                <a:extLst>
                  <a:ext uri="{0D108BD9-81ED-4DB2-BD59-A6C34878D82A}">
                    <a16:rowId xmlns:a16="http://schemas.microsoft.com/office/drawing/2014/main" val="1541366086"/>
                  </a:ext>
                </a:extLst>
              </a:tr>
              <a:tr h="1191271">
                <a:tc>
                  <a:txBody>
                    <a:bodyPr/>
                    <a:lstStyle/>
                    <a:p>
                      <a:r>
                        <a:rPr lang="en-GB"/>
                        <a:t>Adjacency matrix</a:t>
                      </a:r>
                    </a:p>
                  </a:txBody>
                  <a:tcPr/>
                </a:tc>
                <a:tc>
                  <a:txBody>
                    <a:bodyPr/>
                    <a:lstStyle/>
                    <a:p>
                      <a:pPr lvl="0">
                        <a:buNone/>
                      </a:pPr>
                      <a:r>
                        <a:rPr lang="en-GB"/>
                        <a:t>O(V^2)</a:t>
                      </a:r>
                    </a:p>
                  </a:txBody>
                  <a:tcPr/>
                </a:tc>
                <a:tc>
                  <a:txBody>
                    <a:bodyPr/>
                    <a:lstStyle/>
                    <a:p>
                      <a:pPr lvl="0">
                        <a:buNone/>
                      </a:pPr>
                      <a:r>
                        <a:rPr lang="en-GB"/>
                        <a:t>Dense graphs</a:t>
                      </a:r>
                    </a:p>
                  </a:txBody>
                  <a:tcPr/>
                </a:tc>
                <a:extLst>
                  <a:ext uri="{0D108BD9-81ED-4DB2-BD59-A6C34878D82A}">
                    <a16:rowId xmlns:a16="http://schemas.microsoft.com/office/drawing/2014/main" val="4187580421"/>
                  </a:ext>
                </a:extLst>
              </a:tr>
              <a:tr h="1191271">
                <a:tc>
                  <a:txBody>
                    <a:bodyPr/>
                    <a:lstStyle/>
                    <a:p>
                      <a:pPr lvl="0">
                        <a:buNone/>
                      </a:pPr>
                      <a:r>
                        <a:rPr lang="en-GB"/>
                        <a:t>Adjacency list</a:t>
                      </a:r>
                    </a:p>
                  </a:txBody>
                  <a:tcPr/>
                </a:tc>
                <a:tc>
                  <a:txBody>
                    <a:bodyPr/>
                    <a:lstStyle/>
                    <a:p>
                      <a:pPr lvl="0">
                        <a:buNone/>
                      </a:pPr>
                      <a:r>
                        <a:rPr lang="en-GB"/>
                        <a:t>O((V+E) log V)</a:t>
                      </a:r>
                    </a:p>
                  </a:txBody>
                  <a:tcPr/>
                </a:tc>
                <a:tc>
                  <a:txBody>
                    <a:bodyPr/>
                    <a:lstStyle/>
                    <a:p>
                      <a:pPr lvl="0">
                        <a:buNone/>
                      </a:pPr>
                      <a:r>
                        <a:rPr lang="en-GB"/>
                        <a:t>Sparse graphs</a:t>
                      </a:r>
                    </a:p>
                  </a:txBody>
                  <a:tcPr/>
                </a:tc>
                <a:extLst>
                  <a:ext uri="{0D108BD9-81ED-4DB2-BD59-A6C34878D82A}">
                    <a16:rowId xmlns:a16="http://schemas.microsoft.com/office/drawing/2014/main" val="25767789"/>
                  </a:ext>
                </a:extLst>
              </a:tr>
            </a:tbl>
          </a:graphicData>
        </a:graphic>
      </p:graphicFrame>
    </p:spTree>
    <p:extLst>
      <p:ext uri="{BB962C8B-B14F-4D97-AF65-F5344CB8AC3E}">
        <p14:creationId xmlns:p14="http://schemas.microsoft.com/office/powerpoint/2010/main" val="192263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0DBD2-C180-E6E8-D518-21AA03AC896C}"/>
              </a:ext>
            </a:extLst>
          </p:cNvPr>
          <p:cNvSpPr>
            <a:spLocks noGrp="1"/>
          </p:cNvSpPr>
          <p:nvPr>
            <p:ph type="title"/>
          </p:nvPr>
        </p:nvSpPr>
        <p:spPr/>
        <p:txBody>
          <a:bodyPr/>
          <a:lstStyle/>
          <a:p>
            <a:r>
              <a:rPr lang="en-GB"/>
              <a:t>Varying v, fixed e</a:t>
            </a:r>
          </a:p>
        </p:txBody>
      </p:sp>
      <p:pic>
        <p:nvPicPr>
          <p:cNvPr id="4" name="Content Placeholder 3" descr="A graph with a line and a red line&#10;&#10;AI-generated content may be incorrect.">
            <a:extLst>
              <a:ext uri="{FF2B5EF4-FFF2-40B4-BE49-F238E27FC236}">
                <a16:creationId xmlns:a16="http://schemas.microsoft.com/office/drawing/2014/main" id="{DC39B6CF-C1AA-565F-284F-B1AED327913B}"/>
              </a:ext>
            </a:extLst>
          </p:cNvPr>
          <p:cNvPicPr>
            <a:picLocks noGrp="1" noChangeAspect="1"/>
          </p:cNvPicPr>
          <p:nvPr>
            <p:ph idx="1"/>
          </p:nvPr>
        </p:nvPicPr>
        <p:blipFill>
          <a:blip r:embed="rId2"/>
          <a:stretch>
            <a:fillRect/>
          </a:stretch>
        </p:blipFill>
        <p:spPr>
          <a:xfrm>
            <a:off x="613238" y="2192415"/>
            <a:ext cx="5486400" cy="4114800"/>
          </a:xfrm>
          <a:prstGeom prst="rect">
            <a:avLst/>
          </a:prstGeom>
        </p:spPr>
      </p:pic>
      <p:pic>
        <p:nvPicPr>
          <p:cNvPr id="6" name="Content Placeholder 7" descr="A graph with a blue line&#10;&#10;AI-generated content may be incorrect.">
            <a:extLst>
              <a:ext uri="{FF2B5EF4-FFF2-40B4-BE49-F238E27FC236}">
                <a16:creationId xmlns:a16="http://schemas.microsoft.com/office/drawing/2014/main" id="{B0589A80-2230-3D47-10F1-D6334811A928}"/>
              </a:ext>
            </a:extLst>
          </p:cNvPr>
          <p:cNvPicPr>
            <a:picLocks noChangeAspect="1"/>
          </p:cNvPicPr>
          <p:nvPr/>
        </p:nvPicPr>
        <p:blipFill>
          <a:blip r:embed="rId3"/>
          <a:stretch>
            <a:fillRect/>
          </a:stretch>
        </p:blipFill>
        <p:spPr>
          <a:xfrm>
            <a:off x="6099703" y="2345480"/>
            <a:ext cx="5107753" cy="3961003"/>
          </a:xfrm>
          <a:prstGeom prst="rect">
            <a:avLst/>
          </a:prstGeom>
        </p:spPr>
      </p:pic>
      <p:sp>
        <p:nvSpPr>
          <p:cNvPr id="8" name="TextBox 7">
            <a:extLst>
              <a:ext uri="{FF2B5EF4-FFF2-40B4-BE49-F238E27FC236}">
                <a16:creationId xmlns:a16="http://schemas.microsoft.com/office/drawing/2014/main" id="{B9A2E92B-5AD4-70AA-348C-679991409309}"/>
              </a:ext>
            </a:extLst>
          </p:cNvPr>
          <p:cNvSpPr txBox="1"/>
          <p:nvPr/>
        </p:nvSpPr>
        <p:spPr>
          <a:xfrm>
            <a:off x="8158293" y="1985393"/>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List-Based</a:t>
            </a:r>
          </a:p>
        </p:txBody>
      </p:sp>
      <p:sp>
        <p:nvSpPr>
          <p:cNvPr id="10" name="TextBox 9">
            <a:extLst>
              <a:ext uri="{FF2B5EF4-FFF2-40B4-BE49-F238E27FC236}">
                <a16:creationId xmlns:a16="http://schemas.microsoft.com/office/drawing/2014/main" id="{0FEDC55E-4E9B-9623-A0D2-8CBB55373AFC}"/>
              </a:ext>
            </a:extLst>
          </p:cNvPr>
          <p:cNvSpPr txBox="1"/>
          <p:nvPr/>
        </p:nvSpPr>
        <p:spPr>
          <a:xfrm>
            <a:off x="2635541" y="1985393"/>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Matrix-Based</a:t>
            </a:r>
          </a:p>
        </p:txBody>
      </p:sp>
    </p:spTree>
    <p:extLst>
      <p:ext uri="{BB962C8B-B14F-4D97-AF65-F5344CB8AC3E}">
        <p14:creationId xmlns:p14="http://schemas.microsoft.com/office/powerpoint/2010/main" val="606922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DB8F0-BD44-19DA-7657-169163B9F8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1C6E9-5059-FAB5-13ED-4AD68CDAB47E}"/>
              </a:ext>
            </a:extLst>
          </p:cNvPr>
          <p:cNvSpPr>
            <a:spLocks noGrp="1"/>
          </p:cNvSpPr>
          <p:nvPr>
            <p:ph type="title"/>
          </p:nvPr>
        </p:nvSpPr>
        <p:spPr>
          <a:xfrm>
            <a:off x="808661" y="365125"/>
            <a:ext cx="10357666" cy="919867"/>
          </a:xfrm>
        </p:spPr>
        <p:txBody>
          <a:bodyPr/>
          <a:lstStyle/>
          <a:p>
            <a:r>
              <a:rPr lang="en-US">
                <a:ea typeface="+mj-lt"/>
                <a:cs typeface="+mj-lt"/>
              </a:rPr>
              <a:t>Fixed V, Varying E</a:t>
            </a:r>
            <a:endParaRPr lang="en-US"/>
          </a:p>
        </p:txBody>
      </p:sp>
      <p:pic>
        <p:nvPicPr>
          <p:cNvPr id="9" name="Picture 8">
            <a:extLst>
              <a:ext uri="{FF2B5EF4-FFF2-40B4-BE49-F238E27FC236}">
                <a16:creationId xmlns:a16="http://schemas.microsoft.com/office/drawing/2014/main" id="{1BABE5C0-1384-8AF0-5BB5-4FA47ED7376E}"/>
              </a:ext>
            </a:extLst>
          </p:cNvPr>
          <p:cNvPicPr>
            <a:picLocks noChangeAspect="1"/>
          </p:cNvPicPr>
          <p:nvPr/>
        </p:nvPicPr>
        <p:blipFill>
          <a:blip r:embed="rId2"/>
          <a:stretch>
            <a:fillRect/>
          </a:stretch>
        </p:blipFill>
        <p:spPr>
          <a:xfrm>
            <a:off x="489242" y="2118049"/>
            <a:ext cx="5495925" cy="4114800"/>
          </a:xfrm>
          <a:prstGeom prst="rect">
            <a:avLst/>
          </a:prstGeom>
        </p:spPr>
      </p:pic>
      <p:pic>
        <p:nvPicPr>
          <p:cNvPr id="7" name="Picture 6" descr="A graph with a line and a red line&#10;&#10;AI-generated content may be incorrect.">
            <a:extLst>
              <a:ext uri="{FF2B5EF4-FFF2-40B4-BE49-F238E27FC236}">
                <a16:creationId xmlns:a16="http://schemas.microsoft.com/office/drawing/2014/main" id="{C1875117-609C-7337-EE20-AB26001064ED}"/>
              </a:ext>
            </a:extLst>
          </p:cNvPr>
          <p:cNvPicPr>
            <a:picLocks noChangeAspect="1"/>
          </p:cNvPicPr>
          <p:nvPr/>
        </p:nvPicPr>
        <p:blipFill>
          <a:blip r:embed="rId3"/>
          <a:stretch>
            <a:fillRect/>
          </a:stretch>
        </p:blipFill>
        <p:spPr>
          <a:xfrm>
            <a:off x="6517531" y="2217574"/>
            <a:ext cx="5117646" cy="4016829"/>
          </a:xfrm>
          <a:prstGeom prst="rect">
            <a:avLst/>
          </a:prstGeom>
        </p:spPr>
      </p:pic>
      <p:sp>
        <p:nvSpPr>
          <p:cNvPr id="10" name="TextBox 9">
            <a:extLst>
              <a:ext uri="{FF2B5EF4-FFF2-40B4-BE49-F238E27FC236}">
                <a16:creationId xmlns:a16="http://schemas.microsoft.com/office/drawing/2014/main" id="{4EB82DF5-3976-B9DD-492C-C51130BF2E33}"/>
              </a:ext>
            </a:extLst>
          </p:cNvPr>
          <p:cNvSpPr txBox="1"/>
          <p:nvPr/>
        </p:nvSpPr>
        <p:spPr>
          <a:xfrm>
            <a:off x="8892329" y="167080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List-Based</a:t>
            </a:r>
          </a:p>
        </p:txBody>
      </p:sp>
      <p:sp>
        <p:nvSpPr>
          <p:cNvPr id="11" name="TextBox 10">
            <a:extLst>
              <a:ext uri="{FF2B5EF4-FFF2-40B4-BE49-F238E27FC236}">
                <a16:creationId xmlns:a16="http://schemas.microsoft.com/office/drawing/2014/main" id="{57D742A4-58FE-64B1-FE0E-AA89523A3D23}"/>
              </a:ext>
            </a:extLst>
          </p:cNvPr>
          <p:cNvSpPr txBox="1"/>
          <p:nvPr/>
        </p:nvSpPr>
        <p:spPr>
          <a:xfrm>
            <a:off x="2355906" y="167080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Matrix-Based</a:t>
            </a:r>
          </a:p>
        </p:txBody>
      </p:sp>
    </p:spTree>
    <p:extLst>
      <p:ext uri="{BB962C8B-B14F-4D97-AF65-F5344CB8AC3E}">
        <p14:creationId xmlns:p14="http://schemas.microsoft.com/office/powerpoint/2010/main" val="517176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CCBE8-268D-C7B9-1833-AD007AE936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B69B56-AB61-B767-CB64-9B8C22462EB5}"/>
              </a:ext>
            </a:extLst>
          </p:cNvPr>
          <p:cNvSpPr>
            <a:spLocks noGrp="1"/>
          </p:cNvSpPr>
          <p:nvPr>
            <p:ph type="title"/>
          </p:nvPr>
        </p:nvSpPr>
        <p:spPr>
          <a:xfrm>
            <a:off x="808661" y="365125"/>
            <a:ext cx="10357666" cy="919867"/>
          </a:xfrm>
        </p:spPr>
        <p:txBody>
          <a:bodyPr/>
          <a:lstStyle/>
          <a:p>
            <a:r>
              <a:rPr lang="en-US">
                <a:ea typeface="+mj-lt"/>
                <a:cs typeface="+mj-lt"/>
              </a:rPr>
              <a:t>Varying E, Varying V</a:t>
            </a:r>
            <a:endParaRPr lang="en-US"/>
          </a:p>
        </p:txBody>
      </p:sp>
      <p:sp>
        <p:nvSpPr>
          <p:cNvPr id="16" name="TextBox 15">
            <a:extLst>
              <a:ext uri="{FF2B5EF4-FFF2-40B4-BE49-F238E27FC236}">
                <a16:creationId xmlns:a16="http://schemas.microsoft.com/office/drawing/2014/main" id="{2463BDB3-B57C-9807-88A9-457C8FB9A138}"/>
              </a:ext>
            </a:extLst>
          </p:cNvPr>
          <p:cNvSpPr txBox="1"/>
          <p:nvPr/>
        </p:nvSpPr>
        <p:spPr>
          <a:xfrm>
            <a:off x="2488733" y="1761688"/>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Matrix-based</a:t>
            </a:r>
          </a:p>
        </p:txBody>
      </p:sp>
      <p:sp>
        <p:nvSpPr>
          <p:cNvPr id="17" name="TextBox 16">
            <a:extLst>
              <a:ext uri="{FF2B5EF4-FFF2-40B4-BE49-F238E27FC236}">
                <a16:creationId xmlns:a16="http://schemas.microsoft.com/office/drawing/2014/main" id="{D898E1C3-8B68-E23B-5864-7338863A463D}"/>
              </a:ext>
            </a:extLst>
          </p:cNvPr>
          <p:cNvSpPr txBox="1"/>
          <p:nvPr/>
        </p:nvSpPr>
        <p:spPr>
          <a:xfrm>
            <a:off x="8312091" y="1761688"/>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List-based</a:t>
            </a:r>
          </a:p>
        </p:txBody>
      </p:sp>
      <p:pic>
        <p:nvPicPr>
          <p:cNvPr id="3" name="Picture 2" descr="A graph with a red line and blue line&#10;&#10;AI-generated content may be incorrect.">
            <a:extLst>
              <a:ext uri="{FF2B5EF4-FFF2-40B4-BE49-F238E27FC236}">
                <a16:creationId xmlns:a16="http://schemas.microsoft.com/office/drawing/2014/main" id="{73DCA3C4-2CB4-56DD-B259-146EE3D66D54}"/>
              </a:ext>
            </a:extLst>
          </p:cNvPr>
          <p:cNvPicPr>
            <a:picLocks noChangeAspect="1"/>
          </p:cNvPicPr>
          <p:nvPr/>
        </p:nvPicPr>
        <p:blipFill>
          <a:blip r:embed="rId2"/>
          <a:stretch>
            <a:fillRect/>
          </a:stretch>
        </p:blipFill>
        <p:spPr>
          <a:xfrm>
            <a:off x="6254151" y="2138632"/>
            <a:ext cx="5204604" cy="3946585"/>
          </a:xfrm>
          <a:prstGeom prst="rect">
            <a:avLst/>
          </a:prstGeom>
        </p:spPr>
      </p:pic>
      <p:pic>
        <p:nvPicPr>
          <p:cNvPr id="6" name="Content Placeholder 4" descr="A graph with a line and a red dotted line&#10;&#10;AI-generated content may be incorrect.">
            <a:extLst>
              <a:ext uri="{FF2B5EF4-FFF2-40B4-BE49-F238E27FC236}">
                <a16:creationId xmlns:a16="http://schemas.microsoft.com/office/drawing/2014/main" id="{CA26BFFA-A839-180A-0302-C13188676514}"/>
              </a:ext>
            </a:extLst>
          </p:cNvPr>
          <p:cNvPicPr>
            <a:picLocks noGrp="1" noChangeAspect="1"/>
          </p:cNvPicPr>
          <p:nvPr>
            <p:ph idx="1"/>
          </p:nvPr>
        </p:nvPicPr>
        <p:blipFill>
          <a:blip r:embed="rId3"/>
          <a:stretch>
            <a:fillRect/>
          </a:stretch>
        </p:blipFill>
        <p:spPr>
          <a:xfrm>
            <a:off x="480001" y="2131922"/>
            <a:ext cx="5452793" cy="3985404"/>
          </a:xfrm>
          <a:prstGeom prst="rect">
            <a:avLst/>
          </a:prstGeom>
        </p:spPr>
      </p:pic>
    </p:spTree>
    <p:extLst>
      <p:ext uri="{BB962C8B-B14F-4D97-AF65-F5344CB8AC3E}">
        <p14:creationId xmlns:p14="http://schemas.microsoft.com/office/powerpoint/2010/main" val="2566345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FE842-CF28-63F5-3F03-D91EDEF98BFE}"/>
              </a:ext>
            </a:extLst>
          </p:cNvPr>
          <p:cNvSpPr>
            <a:spLocks noGrp="1"/>
          </p:cNvSpPr>
          <p:nvPr>
            <p:ph type="title"/>
          </p:nvPr>
        </p:nvSpPr>
        <p:spPr/>
        <p:txBody>
          <a:bodyPr/>
          <a:lstStyle/>
          <a:p>
            <a:r>
              <a:rPr lang="en-GB"/>
              <a:t>Empirical Comparison</a:t>
            </a:r>
          </a:p>
        </p:txBody>
      </p:sp>
      <p:sp>
        <p:nvSpPr>
          <p:cNvPr id="8" name="TextBox 7">
            <a:extLst>
              <a:ext uri="{FF2B5EF4-FFF2-40B4-BE49-F238E27FC236}">
                <a16:creationId xmlns:a16="http://schemas.microsoft.com/office/drawing/2014/main" id="{EB0BCADF-9FDF-F420-C5A6-28A5A9433D40}"/>
              </a:ext>
            </a:extLst>
          </p:cNvPr>
          <p:cNvSpPr txBox="1"/>
          <p:nvPr/>
        </p:nvSpPr>
        <p:spPr>
          <a:xfrm>
            <a:off x="7053223" y="2204132"/>
            <a:ext cx="4065679"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a:t>Average runtime for adjacency list is significantly faster than that for adjacency matrix as it has fewer edges to compare</a:t>
            </a:r>
          </a:p>
          <a:p>
            <a:pPr marL="285750" indent="-285750">
              <a:buFont typeface="Calibri"/>
              <a:buChar char="-"/>
            </a:pPr>
            <a:endParaRPr lang="en-US"/>
          </a:p>
          <a:p>
            <a:pPr marL="285750" indent="-285750">
              <a:buFont typeface="Calibri"/>
              <a:buChar char="-"/>
            </a:pPr>
            <a:endParaRPr lang="en-US"/>
          </a:p>
          <a:p>
            <a:pPr marL="285750" indent="-285750">
              <a:buFont typeface="Calibri"/>
              <a:buChar char="-"/>
            </a:pPr>
            <a:r>
              <a:rPr lang="en-US"/>
              <a:t>Adjacency matrix compares all possible edges</a:t>
            </a:r>
          </a:p>
          <a:p>
            <a:endParaRPr lang="en-US"/>
          </a:p>
          <a:p>
            <a:endParaRPr lang="en-US"/>
          </a:p>
          <a:p>
            <a:pPr marL="285750" indent="-285750">
              <a:buFont typeface="Calibri"/>
              <a:buChar char="-"/>
            </a:pPr>
            <a:r>
              <a:rPr lang="en-US"/>
              <a:t>Adjacency list only compares existing edges</a:t>
            </a:r>
          </a:p>
          <a:p>
            <a:pPr marL="285750" indent="-285750">
              <a:buFont typeface="Calibri"/>
              <a:buChar char="-"/>
            </a:pPr>
            <a:endParaRPr lang="en-US"/>
          </a:p>
        </p:txBody>
      </p:sp>
      <p:pic>
        <p:nvPicPr>
          <p:cNvPr id="6" name="Content Placeholder 5" descr="A graph with a line and a red line&#10;&#10;AI-generated content may be incorrect.">
            <a:extLst>
              <a:ext uri="{FF2B5EF4-FFF2-40B4-BE49-F238E27FC236}">
                <a16:creationId xmlns:a16="http://schemas.microsoft.com/office/drawing/2014/main" id="{F2B83A17-4BDC-470E-6804-D36645C96FB8}"/>
              </a:ext>
            </a:extLst>
          </p:cNvPr>
          <p:cNvPicPr>
            <a:picLocks noGrp="1" noChangeAspect="1"/>
          </p:cNvPicPr>
          <p:nvPr>
            <p:ph idx="1"/>
          </p:nvPr>
        </p:nvPicPr>
        <p:blipFill>
          <a:blip r:embed="rId3"/>
          <a:stretch>
            <a:fillRect/>
          </a:stretch>
        </p:blipFill>
        <p:spPr>
          <a:xfrm>
            <a:off x="912803" y="1991121"/>
            <a:ext cx="5774553" cy="4114801"/>
          </a:xfrm>
          <a:prstGeom prst="rect">
            <a:avLst/>
          </a:prstGeom>
        </p:spPr>
      </p:pic>
    </p:spTree>
    <p:extLst>
      <p:ext uri="{BB962C8B-B14F-4D97-AF65-F5344CB8AC3E}">
        <p14:creationId xmlns:p14="http://schemas.microsoft.com/office/powerpoint/2010/main" val="19104208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51FE5-A437-ED9B-3AFE-1D098EE398E9}"/>
              </a:ext>
            </a:extLst>
          </p:cNvPr>
          <p:cNvSpPr>
            <a:spLocks noGrp="1"/>
          </p:cNvSpPr>
          <p:nvPr>
            <p:ph type="title"/>
          </p:nvPr>
        </p:nvSpPr>
        <p:spPr/>
        <p:txBody>
          <a:bodyPr/>
          <a:lstStyle/>
          <a:p>
            <a:r>
              <a:rPr lang="en-GB"/>
              <a:t>Comparison of implementations</a:t>
            </a:r>
          </a:p>
        </p:txBody>
      </p:sp>
      <p:graphicFrame>
        <p:nvGraphicFramePr>
          <p:cNvPr id="4" name="Content Placeholder 3">
            <a:extLst>
              <a:ext uri="{FF2B5EF4-FFF2-40B4-BE49-F238E27FC236}">
                <a16:creationId xmlns:a16="http://schemas.microsoft.com/office/drawing/2014/main" id="{1ECDA986-C992-EF51-AEB7-0CC3F4A2EACA}"/>
              </a:ext>
            </a:extLst>
          </p:cNvPr>
          <p:cNvGraphicFramePr>
            <a:graphicFrameLocks noGrp="1"/>
          </p:cNvGraphicFramePr>
          <p:nvPr>
            <p:ph idx="1"/>
            <p:extLst>
              <p:ext uri="{D42A27DB-BD31-4B8C-83A1-F6EECF244321}">
                <p14:modId xmlns:p14="http://schemas.microsoft.com/office/powerpoint/2010/main" val="2224123067"/>
              </p:ext>
            </p:extLst>
          </p:nvPr>
        </p:nvGraphicFramePr>
        <p:xfrm>
          <a:off x="808038" y="2019300"/>
          <a:ext cx="10358436" cy="4166005"/>
        </p:xfrm>
        <a:graphic>
          <a:graphicData uri="http://schemas.openxmlformats.org/drawingml/2006/table">
            <a:tbl>
              <a:tblPr firstRow="1" bandRow="1">
                <a:tableStyleId>{5C22544A-7EE6-4342-B048-85BDC9FD1C3A}</a:tableStyleId>
              </a:tblPr>
              <a:tblGrid>
                <a:gridCol w="5179218">
                  <a:extLst>
                    <a:ext uri="{9D8B030D-6E8A-4147-A177-3AD203B41FA5}">
                      <a16:colId xmlns:a16="http://schemas.microsoft.com/office/drawing/2014/main" val="2540909353"/>
                    </a:ext>
                  </a:extLst>
                </a:gridCol>
                <a:gridCol w="5179218">
                  <a:extLst>
                    <a:ext uri="{9D8B030D-6E8A-4147-A177-3AD203B41FA5}">
                      <a16:colId xmlns:a16="http://schemas.microsoft.com/office/drawing/2014/main" val="3852777503"/>
                    </a:ext>
                  </a:extLst>
                </a:gridCol>
              </a:tblGrid>
              <a:tr h="833201">
                <a:tc>
                  <a:txBody>
                    <a:bodyPr/>
                    <a:lstStyle/>
                    <a:p>
                      <a:pPr lvl="0">
                        <a:buNone/>
                      </a:pPr>
                      <a:r>
                        <a:rPr lang="en-GB" sz="2400"/>
                        <a:t>Adjacency Matrix</a:t>
                      </a:r>
                      <a:endParaRPr lang="en-US" sz="2400"/>
                    </a:p>
                  </a:txBody>
                  <a:tcPr/>
                </a:tc>
                <a:tc>
                  <a:txBody>
                    <a:bodyPr/>
                    <a:lstStyle/>
                    <a:p>
                      <a:r>
                        <a:rPr lang="en-GB" sz="2400"/>
                        <a:t>Adjacency List</a:t>
                      </a:r>
                      <a:endParaRPr lang="en-US" sz="2400"/>
                    </a:p>
                  </a:txBody>
                  <a:tcPr/>
                </a:tc>
                <a:extLst>
                  <a:ext uri="{0D108BD9-81ED-4DB2-BD59-A6C34878D82A}">
                    <a16:rowId xmlns:a16="http://schemas.microsoft.com/office/drawing/2014/main" val="315031046"/>
                  </a:ext>
                </a:extLst>
              </a:tr>
              <a:tr h="833201">
                <a:tc>
                  <a:txBody>
                    <a:bodyPr/>
                    <a:lstStyle/>
                    <a:p>
                      <a:r>
                        <a:rPr lang="en-GB"/>
                        <a:t>Simpler to implement</a:t>
                      </a:r>
                    </a:p>
                  </a:txBody>
                  <a:tcPr/>
                </a:tc>
                <a:tc>
                  <a:txBody>
                    <a:bodyPr/>
                    <a:lstStyle/>
                    <a:p>
                      <a:r>
                        <a:rPr lang="en-GB"/>
                        <a:t>Slightly more complex due to heap operations</a:t>
                      </a:r>
                    </a:p>
                  </a:txBody>
                  <a:tcPr/>
                </a:tc>
                <a:extLst>
                  <a:ext uri="{0D108BD9-81ED-4DB2-BD59-A6C34878D82A}">
                    <a16:rowId xmlns:a16="http://schemas.microsoft.com/office/drawing/2014/main" val="3370343324"/>
                  </a:ext>
                </a:extLst>
              </a:tr>
              <a:tr h="833201">
                <a:tc>
                  <a:txBody>
                    <a:bodyPr/>
                    <a:lstStyle/>
                    <a:p>
                      <a:r>
                        <a:rPr lang="en-GB"/>
                        <a:t>Performs reasonably for dense graphs</a:t>
                      </a:r>
                    </a:p>
                  </a:txBody>
                  <a:tcPr/>
                </a:tc>
                <a:tc>
                  <a:txBody>
                    <a:bodyPr/>
                    <a:lstStyle/>
                    <a:p>
                      <a:r>
                        <a:rPr lang="en-GB"/>
                        <a:t>Overhead of log V makes it not as advantageous for very dense graphs</a:t>
                      </a:r>
                    </a:p>
                  </a:txBody>
                  <a:tcPr/>
                </a:tc>
                <a:extLst>
                  <a:ext uri="{0D108BD9-81ED-4DB2-BD59-A6C34878D82A}">
                    <a16:rowId xmlns:a16="http://schemas.microsoft.com/office/drawing/2014/main" val="1577902858"/>
                  </a:ext>
                </a:extLst>
              </a:tr>
              <a:tr h="833201">
                <a:tc>
                  <a:txBody>
                    <a:bodyPr/>
                    <a:lstStyle/>
                    <a:p>
                      <a:r>
                        <a:rPr lang="en-GB"/>
                        <a:t>Poor for sparse graphs as too many checks wasted</a:t>
                      </a:r>
                    </a:p>
                  </a:txBody>
                  <a:tcPr/>
                </a:tc>
                <a:tc>
                  <a:txBody>
                    <a:bodyPr/>
                    <a:lstStyle/>
                    <a:p>
                      <a:pPr lvl="0">
                        <a:buNone/>
                      </a:pPr>
                      <a:r>
                        <a:rPr lang="en-GB" sz="1800" b="0" i="0" u="none" strike="noStrike" noProof="0">
                          <a:latin typeface="Avenir Next LT Pro"/>
                        </a:rPr>
                        <a:t>More efficient for sparse graphs</a:t>
                      </a:r>
                      <a:endParaRPr lang="en-US"/>
                    </a:p>
                  </a:txBody>
                  <a:tcPr/>
                </a:tc>
                <a:extLst>
                  <a:ext uri="{0D108BD9-81ED-4DB2-BD59-A6C34878D82A}">
                    <a16:rowId xmlns:a16="http://schemas.microsoft.com/office/drawing/2014/main" val="3951791733"/>
                  </a:ext>
                </a:extLst>
              </a:tr>
              <a:tr h="833201">
                <a:tc>
                  <a:txBody>
                    <a:bodyPr/>
                    <a:lstStyle/>
                    <a:p>
                      <a:r>
                        <a:rPr lang="en-GB"/>
                        <a:t>Memory usage is large</a:t>
                      </a:r>
                    </a:p>
                  </a:txBody>
                  <a:tcPr/>
                </a:tc>
                <a:tc>
                  <a:txBody>
                    <a:bodyPr/>
                    <a:lstStyle/>
                    <a:p>
                      <a:r>
                        <a:rPr lang="en-GB"/>
                        <a:t>Lower memory usage </a:t>
                      </a:r>
                    </a:p>
                  </a:txBody>
                  <a:tcPr/>
                </a:tc>
                <a:extLst>
                  <a:ext uri="{0D108BD9-81ED-4DB2-BD59-A6C34878D82A}">
                    <a16:rowId xmlns:a16="http://schemas.microsoft.com/office/drawing/2014/main" val="1866277839"/>
                  </a:ext>
                </a:extLst>
              </a:tr>
            </a:tbl>
          </a:graphicData>
        </a:graphic>
      </p:graphicFrame>
    </p:spTree>
    <p:extLst>
      <p:ext uri="{BB962C8B-B14F-4D97-AF65-F5344CB8AC3E}">
        <p14:creationId xmlns:p14="http://schemas.microsoft.com/office/powerpoint/2010/main" val="1677784071"/>
      </p:ext>
    </p:extLst>
  </p:cSld>
  <p:clrMapOvr>
    <a:masterClrMapping/>
  </p:clrMapOvr>
</p:sld>
</file>

<file path=ppt/theme/theme1.xml><?xml version="1.0" encoding="utf-8"?>
<a:theme xmlns:a="http://schemas.openxmlformats.org/drawingml/2006/main" name="VeniceBeachVTI">
  <a:themeElements>
    <a:clrScheme name="Venice Beach">
      <a:dk1>
        <a:sysClr val="windowText" lastClr="000000"/>
      </a:dk1>
      <a:lt1>
        <a:sysClr val="window" lastClr="FFFFFF"/>
      </a:lt1>
      <a:dk2>
        <a:srgbClr val="2B3E3D"/>
      </a:dk2>
      <a:lt2>
        <a:srgbClr val="FEF3EB"/>
      </a:lt2>
      <a:accent1>
        <a:srgbClr val="FE8542"/>
      </a:accent1>
      <a:accent2>
        <a:srgbClr val="EC6D60"/>
      </a:accent2>
      <a:accent3>
        <a:srgbClr val="CDA32B"/>
      </a:accent3>
      <a:accent4>
        <a:srgbClr val="EE66A7"/>
      </a:accent4>
      <a:accent5>
        <a:srgbClr val="EA5F48"/>
      </a:accent5>
      <a:accent6>
        <a:srgbClr val="C8466B"/>
      </a:accent6>
      <a:hlink>
        <a:srgbClr val="E46153"/>
      </a:hlink>
      <a:folHlink>
        <a:srgbClr val="CF63B0"/>
      </a:folHlink>
    </a:clrScheme>
    <a:fontScheme name="Avenir 1">
      <a:majorFont>
        <a:latin typeface="Avenir Next LT Pro Ligh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eniceBeachVTI" id="{69839BBA-F383-4FFD-B56A-E36ACE43E09D}" vid="{060D2740-A69C-444A-B833-E03D333ADD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f9c19e8-4add-47dc-947e-f4f389a0ac7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9A58EDDCD090943BB9562E3BA85D153" ma:contentTypeVersion="10" ma:contentTypeDescription="Create a new document." ma:contentTypeScope="" ma:versionID="d4d56b2f135fb2e1112d42086d136342">
  <xsd:schema xmlns:xsd="http://www.w3.org/2001/XMLSchema" xmlns:xs="http://www.w3.org/2001/XMLSchema" xmlns:p="http://schemas.microsoft.com/office/2006/metadata/properties" xmlns:ns3="cf9c19e8-4add-47dc-947e-f4f389a0ac7f" targetNamespace="http://schemas.microsoft.com/office/2006/metadata/properties" ma:root="true" ma:fieldsID="ea371642d04d9da1e0b0ceac3dec1286" ns3:_="">
    <xsd:import namespace="cf9c19e8-4add-47dc-947e-f4f389a0ac7f"/>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9c19e8-4add-47dc-947e-f4f389a0ac7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7589C0-D83C-4A2F-B86F-D26130CF329D}">
  <ds:schemaRefs>
    <ds:schemaRef ds:uri="cf9c19e8-4add-47dc-947e-f4f389a0ac7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D82044E-A76F-4E85-91C8-2DD68178F4E5}">
  <ds:schemaRefs>
    <ds:schemaRef ds:uri="cf9c19e8-4add-47dc-947e-f4f389a0ac7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7E9CB8C-6FC5-4949-B40A-5D7533648F40}">
  <ds:schemaRefs>
    <ds:schemaRef ds:uri="http://schemas.microsoft.com/sharepoint/v3/contenttype/forms"/>
  </ds:schemaRefs>
</ds:datastoreItem>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27</Slides>
  <Notes>7</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VeniceBeachVTI</vt:lpstr>
      <vt:lpstr>Lab 2</vt:lpstr>
      <vt:lpstr>Content</vt:lpstr>
      <vt:lpstr>Part (A)</vt:lpstr>
      <vt:lpstr>Algorithm Setup</vt:lpstr>
      <vt:lpstr>Initialization </vt:lpstr>
      <vt:lpstr>Finding Minimum </vt:lpstr>
      <vt:lpstr>Relaxation &amp; Complexity </vt:lpstr>
      <vt:lpstr>Theoretical Analysis – Array pq</vt:lpstr>
      <vt:lpstr>Empirical Results – Array PQ</vt:lpstr>
      <vt:lpstr>Final Analysis &amp; Validation</vt:lpstr>
      <vt:lpstr>Part (B)</vt:lpstr>
      <vt:lpstr>Code analysis (Theoretical)</vt:lpstr>
      <vt:lpstr>Code analysis (Theoretical)</vt:lpstr>
      <vt:lpstr>Code analysis (Theoretical)</vt:lpstr>
      <vt:lpstr>Code analysis (Theoretical)</vt:lpstr>
      <vt:lpstr>Min Heap Priority Queue</vt:lpstr>
      <vt:lpstr>Preparing the Empirical analysis</vt:lpstr>
      <vt:lpstr>Empirical Graph analysis</vt:lpstr>
      <vt:lpstr>Empirical Graph analysis</vt:lpstr>
      <vt:lpstr>Empirical Graph analysis</vt:lpstr>
      <vt:lpstr>Part (C)</vt:lpstr>
      <vt:lpstr>Time complexities</vt:lpstr>
      <vt:lpstr>Varying v, fixed e</vt:lpstr>
      <vt:lpstr>Fixed V, Varying E</vt:lpstr>
      <vt:lpstr>Varying E, Varying V</vt:lpstr>
      <vt:lpstr>Empirical Comparison</vt:lpstr>
      <vt:lpstr>Comparison of implementations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ZHENG JIE#</dc:creator>
  <cp:revision>2</cp:revision>
  <dcterms:created xsi:type="dcterms:W3CDTF">2025-10-07T15:59:38Z</dcterms:created>
  <dcterms:modified xsi:type="dcterms:W3CDTF">2025-12-19T18:32:08Z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0x01010099A58EDDCD090943BB9562E3BA85D153</vt:lpwstr>
  </property>
</Properties>
</file>