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80" r:id="rId4"/>
    <p:sldId id="273" r:id="rId5"/>
    <p:sldId id="279" r:id="rId6"/>
    <p:sldId id="275" r:id="rId7"/>
    <p:sldId id="283" r:id="rId8"/>
    <p:sldId id="278" r:id="rId9"/>
    <p:sldId id="264" r:id="rId10"/>
    <p:sldId id="265" r:id="rId11"/>
    <p:sldId id="267" r:id="rId12"/>
    <p:sldId id="268" r:id="rId13"/>
    <p:sldId id="270" r:id="rId14"/>
    <p:sldId id="277" r:id="rId15"/>
    <p:sldId id="258" r:id="rId16"/>
    <p:sldId id="259" r:id="rId17"/>
    <p:sldId id="262" r:id="rId18"/>
    <p:sldId id="260" r:id="rId19"/>
    <p:sldId id="26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40C3AD-5752-3A74-7223-A739C63058DE}" v="2" dt="2025-11-08T11:49:42.037"/>
    <p1510:client id="{4FA6CC7A-9921-819B-C31E-49C003EC42B1}" v="106" dt="2025-11-08T15:17:47.623"/>
    <p1510:client id="{67B1694F-E67C-4425-C59F-7DF808B73F8E}" v="18" dt="2025-11-08T12:48:09.506"/>
    <p1510:client id="{7D4FA289-ABD3-AC28-C4E1-48124FFAB555}" v="163" dt="2025-11-08T12:43:48.976"/>
    <p1510:client id="{F13BA4FA-0F25-AA39-E733-2C2DA17FF775}" v="119" dt="2025-11-07T16:21:34.716"/>
    <p1510:client id="{FC6F4A1F-F310-D96D-A006-73F02D4D07F4}" v="58" dt="2025-11-08T12:34:11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913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585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232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85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60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937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305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664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191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24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59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4868" y="2103500"/>
            <a:ext cx="9897284" cy="1054723"/>
          </a:xfrm>
        </p:spPr>
        <p:txBody>
          <a:bodyPr>
            <a:noAutofit/>
          </a:bodyPr>
          <a:lstStyle/>
          <a:p>
            <a:pPr algn="ctr"/>
            <a:r>
              <a:rPr lang="en-SG" sz="6000" b="1" cap="all">
                <a:solidFill>
                  <a:srgbClr val="000000"/>
                </a:solidFill>
                <a:latin typeface="Aptos"/>
                <a:ea typeface="Noto Serif"/>
                <a:cs typeface="Noto Serif"/>
              </a:rPr>
              <a:t>SC2001 SCSD Lab 3</a:t>
            </a:r>
            <a:endParaRPr lang="en-US" sz="6000" b="1" cap="all">
              <a:solidFill>
                <a:srgbClr val="000000"/>
              </a:solidFill>
              <a:latin typeface="Apto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1795" y="4383959"/>
            <a:ext cx="8706971" cy="204423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l">
              <a:lnSpc>
                <a:spcPct val="110000"/>
              </a:lnSpc>
            </a:pPr>
            <a:r>
              <a:rPr lang="en-US" sz="2800" b="1" cap="all" dirty="0">
                <a:latin typeface="Aptos"/>
                <a:ea typeface="Roboto"/>
                <a:cs typeface="Roboto"/>
              </a:rPr>
              <a:t>Team 5: </a:t>
            </a:r>
            <a:endParaRPr lang="en-US" sz="2800" dirty="0">
              <a:latin typeface="Aptos"/>
              <a:ea typeface="Roboto"/>
              <a:cs typeface="Roboto"/>
            </a:endParaRPr>
          </a:p>
          <a:p>
            <a:pPr marL="285750" indent="-285750" algn="l">
              <a:lnSpc>
                <a:spcPct val="110000"/>
              </a:lnSpc>
              <a:buFont typeface="Arial,Sans-Serif"/>
              <a:buChar char="•"/>
            </a:pPr>
            <a:r>
              <a:rPr lang="en-US" sz="2800" cap="all" dirty="0">
                <a:latin typeface="Aptos"/>
                <a:ea typeface="Roboto"/>
                <a:cs typeface="Roboto"/>
              </a:rPr>
              <a:t>LEE TENG YEE SHERILYN</a:t>
            </a:r>
            <a:r>
              <a:rPr lang="en-US" sz="2800" dirty="0">
                <a:latin typeface="Aptos"/>
                <a:ea typeface="Roboto"/>
                <a:cs typeface="Roboto"/>
              </a:rPr>
              <a:t>(U2422203D)</a:t>
            </a:r>
          </a:p>
          <a:p>
            <a:pPr marL="285750" indent="-285750" algn="l">
              <a:lnSpc>
                <a:spcPct val="110000"/>
              </a:lnSpc>
              <a:buFont typeface="Arial,Sans-Serif"/>
              <a:buChar char="•"/>
            </a:pPr>
            <a:r>
              <a:rPr lang="en-US" sz="2800" cap="all" dirty="0">
                <a:latin typeface="Aptos"/>
                <a:ea typeface="Roboto"/>
                <a:cs typeface="Roboto"/>
              </a:rPr>
              <a:t>KUS AHMET BUGRA (N2503674F)</a:t>
            </a:r>
          </a:p>
          <a:p>
            <a:pPr marL="285750" indent="-285750" algn="l">
              <a:lnSpc>
                <a:spcPct val="110000"/>
              </a:lnSpc>
              <a:buFont typeface="Arial,Sans-Serif"/>
              <a:buChar char="•"/>
            </a:pPr>
            <a:r>
              <a:rPr lang="en-US" sz="2800" cap="all" dirty="0">
                <a:latin typeface="Aptos"/>
                <a:ea typeface="Roboto"/>
                <a:cs typeface="Roboto"/>
              </a:rPr>
              <a:t>LEE ZHENG JIE </a:t>
            </a:r>
            <a:r>
              <a:rPr lang="en-US" sz="2800" dirty="0">
                <a:latin typeface="Aptos"/>
                <a:ea typeface="Roboto"/>
                <a:cs typeface="Roboto"/>
              </a:rPr>
              <a:t>(U2422750F)</a:t>
            </a:r>
            <a:endParaRPr lang="en-US" sz="2800" dirty="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23D5-EB05-6378-10CB-00C21C43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66813"/>
          </a:xfrm>
        </p:spPr>
        <p:txBody>
          <a:bodyPr/>
          <a:lstStyle/>
          <a:p>
            <a:r>
              <a:rPr lang="en-US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03B21-542C-6189-D5EE-7D7A5D5B3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1227"/>
            <a:ext cx="10515600" cy="45679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US" sz="2400" b="1"/>
              <a:t>1.  Recursive Definition</a:t>
            </a:r>
            <a:br>
              <a:rPr lang="en-US" sz="2400" b="1"/>
            </a:br>
            <a:r>
              <a:rPr lang="en-US" sz="2400"/>
              <a:t>   Define the recursive formula for P(C)</a:t>
            </a:r>
            <a:endParaRPr lang="en-US"/>
          </a:p>
          <a:p>
            <a:pPr marL="0" indent="0">
              <a:lnSpc>
                <a:spcPct val="80000"/>
              </a:lnSpc>
              <a:buNone/>
            </a:pPr>
            <a:endParaRPr lang="en-US" sz="2400"/>
          </a:p>
          <a:p>
            <a:pPr marL="0" indent="0">
              <a:lnSpc>
                <a:spcPct val="80000"/>
              </a:lnSpc>
              <a:buNone/>
            </a:pPr>
            <a:r>
              <a:rPr lang="en-US" sz="2400" b="1"/>
              <a:t>2.  Subproblem Graph</a:t>
            </a:r>
            <a:br>
              <a:rPr lang="en-US" sz="2400"/>
            </a:br>
            <a:r>
              <a:rPr lang="en-US" sz="2400"/>
              <a:t>   Draw the subproblem structure for P(14) with given wᵢ and pᵢ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/>
          </a:p>
          <a:p>
            <a:pPr marL="0" indent="0">
              <a:lnSpc>
                <a:spcPct val="80000"/>
              </a:lnSpc>
              <a:buNone/>
            </a:pPr>
            <a:r>
              <a:rPr lang="en-US" sz="2400" b="1"/>
              <a:t>3. Dynamic Programming Algorithm</a:t>
            </a:r>
            <a:br>
              <a:rPr lang="en-US" sz="2400"/>
            </a:br>
            <a:r>
              <a:rPr lang="en-US" sz="2400"/>
              <a:t>      Develop a Bottom-Up DP solution to compute the maximum profit</a:t>
            </a:r>
          </a:p>
          <a:p>
            <a:pPr marL="0" indent="0">
              <a:lnSpc>
                <a:spcPct val="80000"/>
              </a:lnSpc>
              <a:buNone/>
            </a:pPr>
            <a:endParaRPr lang="en-US" sz="2400"/>
          </a:p>
          <a:p>
            <a:pPr marL="0" indent="0">
              <a:lnSpc>
                <a:spcPct val="80000"/>
              </a:lnSpc>
              <a:buNone/>
            </a:pPr>
            <a:r>
              <a:rPr lang="en-US" sz="2400" b="1"/>
              <a:t>4. Implementation &amp; Results</a:t>
            </a:r>
            <a:br>
              <a:rPr lang="en-US" sz="2400"/>
            </a:br>
            <a:r>
              <a:rPr lang="en-US" sz="2400"/>
              <a:t>      (a) Show running result of P(14) using given data</a:t>
            </a:r>
            <a:br>
              <a:rPr lang="en-US" sz="2400"/>
            </a:br>
            <a:r>
              <a:rPr lang="en-US" sz="2400"/>
              <a:t>      (b) Show running result of P(14) with new weights and profits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53108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345AE-9DD4-39DB-D2C0-143FE2D1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370AF0B-47BF-DAF8-07D4-36FF7991B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DB0A24-492F-5E5A-194B-DB911F42A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EA3E0E5-8481-4BA9-C9F9-C4CE1A592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EC3B44F-E76B-433D-B2AD-034E952AB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F37F3-1BBD-71C5-C7D3-52F517AEE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928" y="965200"/>
            <a:ext cx="5999002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4D9D14-3454-8E95-513F-C13E83D9A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E75A5-82DD-AB97-0AE3-CFF2E94B1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356" y="1159565"/>
            <a:ext cx="2938022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>
                <a:solidFill>
                  <a:srgbClr val="FFFFFF"/>
                </a:solidFill>
                <a:ea typeface="Calibri Light"/>
                <a:cs typeface="Calibri Light"/>
              </a:rPr>
              <a:t>Part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2A3E5-6DB7-3CCA-4E82-A5106801F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75489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7FDB-F30B-295A-80B1-1E7EFA3FF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Recursive definition of P(C)</a:t>
            </a:r>
          </a:p>
        </p:txBody>
      </p:sp>
      <p:pic>
        <p:nvPicPr>
          <p:cNvPr id="9" name="Content Placeholder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DD5204C-6854-1192-4BEF-BB92D5D3A3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52" t="39388" r="11535" b="17629"/>
          <a:stretch>
            <a:fillRect/>
          </a:stretch>
        </p:blipFill>
        <p:spPr>
          <a:xfrm>
            <a:off x="797194" y="2378116"/>
            <a:ext cx="6042803" cy="843368"/>
          </a:xfrm>
          <a:prstGeom prst="rect">
            <a:avLst/>
          </a:prstGeom>
        </p:spPr>
      </p:pic>
      <p:pic>
        <p:nvPicPr>
          <p:cNvPr id="11" name="Picture 1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44DCFF3-211E-FABB-A14C-2901DFD52F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3" t="5398" r="2384" b="9091"/>
          <a:stretch>
            <a:fillRect/>
          </a:stretch>
        </p:blipFill>
        <p:spPr>
          <a:xfrm>
            <a:off x="1240132" y="3062661"/>
            <a:ext cx="9713745" cy="214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4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90A67-9528-A180-F2CB-9B0EBBC8C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130BA69-26CC-C4C8-ACE5-211349D91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742920-B296-FC2B-8757-5FCD37F3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522E3F-C564-11C8-FF82-F512246C2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162CC48-5A15-C5EF-762E-DC02627F7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AF83AE-839E-3B35-F71C-9A2B31452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928" y="965200"/>
            <a:ext cx="5999002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8940B7-125E-77CE-8762-66F6A85E1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1F3C8-6A86-3150-AAA3-D3A81C2E6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356" y="1159565"/>
            <a:ext cx="2938022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>
                <a:solidFill>
                  <a:srgbClr val="FFFFFF"/>
                </a:solidFill>
                <a:ea typeface="Calibri Light"/>
                <a:cs typeface="Calibri Light"/>
              </a:rPr>
              <a:t>Part 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A21340-914C-AF88-A331-18B3BCABC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98457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3A044-8816-3422-B326-349252E4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Subproblem graph 1</a:t>
            </a:r>
          </a:p>
        </p:txBody>
      </p:sp>
      <p:pic>
        <p:nvPicPr>
          <p:cNvPr id="4" name="Content Placeholder 3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EFB82FA0-6A6F-2247-3772-E0767A484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814" r="4333"/>
          <a:stretch>
            <a:fillRect/>
          </a:stretch>
        </p:blipFill>
        <p:spPr>
          <a:xfrm>
            <a:off x="1354630" y="1925776"/>
            <a:ext cx="9536309" cy="438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252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44B1E-1742-7FF4-19AF-A6B5F0C8D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ea typeface="Calibri Light"/>
                <a:cs typeface="Calibri Light"/>
              </a:rPr>
              <a:t>Subproblem graph 2</a:t>
            </a:r>
            <a:endParaRPr lang="en-GB" err="1"/>
          </a:p>
        </p:txBody>
      </p:sp>
      <p:pic>
        <p:nvPicPr>
          <p:cNvPr id="7" name="Content Placeholder 6" descr="A diagram of a diagram&#10;&#10;AI-generated content may be incorrect.">
            <a:extLst>
              <a:ext uri="{FF2B5EF4-FFF2-40B4-BE49-F238E27FC236}">
                <a16:creationId xmlns:a16="http://schemas.microsoft.com/office/drawing/2014/main" id="{A62E22A8-DA80-5621-D899-77A758040A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411" b="-348"/>
          <a:stretch>
            <a:fillRect/>
          </a:stretch>
        </p:blipFill>
        <p:spPr>
          <a:xfrm>
            <a:off x="1301681" y="1845734"/>
            <a:ext cx="9649509" cy="442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310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6AEF17-A041-B078-5FEA-872C44A6A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11C5F5-C00C-8AFB-A0D5-77386838A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4B53D9-B2D0-19FC-7C55-54A32448C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F030FA-5799-19A0-7CCA-6DFA82774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F8939A7-3F3A-2541-6C59-26436B63F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43477-BBC8-59F3-946D-9D87B60F4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928" y="965200"/>
            <a:ext cx="5999002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8660A5-82A0-2BBB-E110-3E1F1637B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5B4CD-8E76-1530-898C-42AD2B8C4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356" y="1159565"/>
            <a:ext cx="2938022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>
                <a:solidFill>
                  <a:srgbClr val="FFFFFF"/>
                </a:solidFill>
                <a:ea typeface="Calibri Light"/>
                <a:cs typeface="Calibri Light"/>
              </a:rPr>
              <a:t>Part 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574214-DAB5-809F-742F-1C1F953D3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27285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C358A-97CB-29C1-1420-FB6617C3C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Unbounded Knapsack (Concept)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90077-7A9C-375B-4400-B5F1C7B10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• </a:t>
            </a:r>
            <a:r>
              <a:rPr lang="en-US" sz="2400" b="1">
                <a:ea typeface="+mn-lt"/>
                <a:cs typeface="+mn-lt"/>
              </a:rPr>
              <a:t>Goal</a:t>
            </a:r>
            <a:br>
              <a:rPr lang="en-US" b="1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  </a:t>
            </a:r>
            <a:r>
              <a:rPr lang="en-US" sz="2400">
                <a:ea typeface="+mn-lt"/>
                <a:cs typeface="+mn-lt"/>
              </a:rPr>
              <a:t>  - Find the maximum profit without exceeding capacity C</a:t>
            </a:r>
            <a:endParaRPr lang="en-US" sz="2400"/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• </a:t>
            </a:r>
            <a:r>
              <a:rPr lang="en-US" sz="2400" b="1">
                <a:ea typeface="+mn-lt"/>
                <a:cs typeface="+mn-lt"/>
              </a:rPr>
              <a:t>Given</a:t>
            </a:r>
            <a:endParaRPr lang="en-US" sz="2400" b="1"/>
          </a:p>
          <a:p>
            <a:pPr marL="0" indent="0">
              <a:buNone/>
            </a:pPr>
            <a:r>
              <a:rPr lang="en-US">
                <a:latin typeface="Consolas"/>
              </a:rPr>
              <a:t> </a:t>
            </a:r>
            <a:r>
              <a:rPr lang="en-US" sz="2400">
                <a:latin typeface="Aptos"/>
              </a:rPr>
              <a:t>   - </a:t>
            </a:r>
            <a:r>
              <a:rPr lang="en-US" sz="2400">
                <a:latin typeface="Consolas"/>
              </a:rPr>
              <a:t>n</a:t>
            </a:r>
            <a:r>
              <a:rPr lang="en-US" sz="2400">
                <a:ea typeface="+mn-lt"/>
                <a:cs typeface="+mn-lt"/>
              </a:rPr>
              <a:t> item types</a:t>
            </a:r>
            <a:endParaRPr lang="en-US" sz="2400"/>
          </a:p>
          <a:p>
            <a:pPr marL="0" indent="0">
              <a:buNone/>
            </a:pPr>
            <a:r>
              <a:rPr lang="en-US">
                <a:latin typeface="Consolas"/>
              </a:rPr>
              <a:t> </a:t>
            </a:r>
            <a:r>
              <a:rPr lang="en-US" sz="2400">
                <a:latin typeface="Aptos"/>
              </a:rPr>
              <a:t>   - </a:t>
            </a:r>
            <a:r>
              <a:rPr lang="en-US" sz="2400">
                <a:ea typeface="+mn-lt"/>
                <a:cs typeface="+mn-lt"/>
              </a:rPr>
              <a:t>Each item has </a:t>
            </a:r>
            <a:r>
              <a:rPr lang="en-US" sz="2400">
                <a:latin typeface="Aptos"/>
                <a:ea typeface="+mn-lt"/>
                <a:cs typeface="+mn-lt"/>
              </a:rPr>
              <a:t>weight </a:t>
            </a:r>
            <a:r>
              <a:rPr lang="en-US" sz="2400">
                <a:latin typeface="Aptos"/>
              </a:rPr>
              <a:t>w[</a:t>
            </a:r>
            <a:r>
              <a:rPr lang="en-US" sz="2400" err="1">
                <a:latin typeface="Aptos"/>
              </a:rPr>
              <a:t>i</a:t>
            </a:r>
            <a:r>
              <a:rPr lang="en-US" sz="2400">
                <a:latin typeface="Aptos"/>
              </a:rPr>
              <a:t>]</a:t>
            </a:r>
            <a:r>
              <a:rPr lang="en-US" sz="2400">
                <a:ea typeface="+mn-lt"/>
                <a:cs typeface="+mn-lt"/>
              </a:rPr>
              <a:t> and </a:t>
            </a:r>
            <a:r>
              <a:rPr lang="en-US" sz="2400">
                <a:latin typeface="Aptos"/>
              </a:rPr>
              <a:t>profit p[</a:t>
            </a:r>
            <a:r>
              <a:rPr lang="en-US" sz="2400" err="1">
                <a:latin typeface="Aptos"/>
              </a:rPr>
              <a:t>i</a:t>
            </a:r>
            <a:r>
              <a:rPr lang="en-US" sz="2400">
                <a:latin typeface="Aptos"/>
              </a:rPr>
              <a:t>]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   </a:t>
            </a:r>
            <a:r>
              <a:rPr lang="en-US" sz="2400">
                <a:ea typeface="+mn-lt"/>
                <a:cs typeface="+mn-lt"/>
              </a:rPr>
              <a:t>  - Unlimited supply of each item</a:t>
            </a:r>
            <a:endParaRPr lang="en-US" sz="2400"/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• </a:t>
            </a:r>
            <a:r>
              <a:rPr lang="en-US" sz="2400" b="1">
                <a:ea typeface="+mn-lt"/>
                <a:cs typeface="+mn-lt"/>
              </a:rPr>
              <a:t>Approach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 </a:t>
            </a:r>
            <a:r>
              <a:rPr lang="en-US">
                <a:ea typeface="+mn-lt"/>
                <a:cs typeface="+mn-lt"/>
              </a:rPr>
              <a:t>-</a:t>
            </a:r>
            <a:r>
              <a:rPr lang="en-US" b="1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Use Dynamic Programming (Bottom-Up)</a:t>
            </a:r>
            <a:endParaRPr lang="en-US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   - Build from small capacities → larger ones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89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2B395-4787-3159-4CEB-31FC67AF8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57295"/>
            <a:ext cx="10058400" cy="1450757"/>
          </a:xfrm>
        </p:spPr>
        <p:txBody>
          <a:bodyPr/>
          <a:lstStyle/>
          <a:p>
            <a:r>
              <a:rPr lang="en-US">
                <a:ea typeface="+mj-lt"/>
                <a:cs typeface="+mj-lt"/>
              </a:rPr>
              <a:t>Algorithm &amp; DP Relation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0D9E0-2E18-8BFE-2A60-AECB66C70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• </a:t>
            </a:r>
            <a:r>
              <a:rPr lang="en-US" sz="2400" b="1">
                <a:ea typeface="+mn-lt"/>
                <a:cs typeface="+mn-lt"/>
              </a:rPr>
              <a:t>DP Formula</a:t>
            </a:r>
          </a:p>
          <a:p>
            <a:pPr marL="0" indent="0">
              <a:buNone/>
            </a:pPr>
            <a:r>
              <a:rPr lang="en-US" sz="2400" b="1"/>
              <a:t>     </a:t>
            </a:r>
            <a:r>
              <a:rPr lang="en-US" sz="2400"/>
              <a:t>-</a:t>
            </a:r>
            <a:r>
              <a:rPr lang="en-US" sz="2400" b="1"/>
              <a:t> </a:t>
            </a:r>
            <a:r>
              <a:rPr lang="en-US" sz="2400"/>
              <a:t>P[c] = max(P[c], p[</a:t>
            </a:r>
            <a:r>
              <a:rPr lang="en-US" sz="2400" err="1"/>
              <a:t>i</a:t>
            </a:r>
            <a:r>
              <a:rPr lang="en-US" sz="2400"/>
              <a:t>] + P[c – w[</a:t>
            </a:r>
            <a:r>
              <a:rPr lang="en-US" sz="2400" err="1"/>
              <a:t>i</a:t>
            </a:r>
            <a:r>
              <a:rPr lang="en-US" sz="2400"/>
              <a:t>]]) if w[</a:t>
            </a:r>
            <a:r>
              <a:rPr lang="en-US" sz="2400" err="1"/>
              <a:t>i</a:t>
            </a:r>
            <a:r>
              <a:rPr lang="en-US" sz="2400"/>
              <a:t>] ≤ c</a:t>
            </a:r>
            <a:endParaRPr lang="en-US"/>
          </a:p>
          <a:p>
            <a:pPr marL="0" indent="0">
              <a:buNone/>
            </a:pPr>
            <a:r>
              <a:rPr lang="en-US" sz="2400">
                <a:latin typeface="Aptos"/>
                <a:ea typeface="+mn-lt"/>
                <a:cs typeface="+mn-lt"/>
              </a:rPr>
              <a:t>• </a:t>
            </a:r>
            <a:r>
              <a:rPr lang="en-US" sz="2400" b="1">
                <a:latin typeface="Aptos"/>
                <a:ea typeface="+mn-lt"/>
                <a:cs typeface="+mn-lt"/>
              </a:rPr>
              <a:t>Explanation  </a:t>
            </a:r>
            <a:endParaRPr lang="en-US" b="1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/>
              <a:t>    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-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For each capacity </a:t>
            </a:r>
            <a:r>
              <a:rPr lang="en-US" sz="2400" b="1">
                <a:ea typeface="+mn-lt"/>
                <a:cs typeface="+mn-lt"/>
              </a:rPr>
              <a:t>c</a:t>
            </a:r>
            <a:r>
              <a:rPr lang="en-US" sz="2400">
                <a:ea typeface="+mn-lt"/>
                <a:cs typeface="+mn-lt"/>
              </a:rPr>
              <a:t>, check all item types </a:t>
            </a:r>
            <a:r>
              <a:rPr lang="en-US" sz="2400" err="1">
                <a:ea typeface="+mn-lt"/>
                <a:cs typeface="+mn-lt"/>
              </a:rPr>
              <a:t>i</a:t>
            </a:r>
            <a:endParaRPr lang="en-US" sz="2400" b="1" err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    </a:t>
            </a:r>
            <a:r>
              <a:rPr lang="en-US" sz="2400">
                <a:ea typeface="+mn-lt"/>
                <a:cs typeface="+mn-lt"/>
              </a:rPr>
              <a:t> -</a:t>
            </a:r>
            <a:r>
              <a:rPr lang="en-US" sz="2400" b="1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Update the best profit using results from smaller subproblems</a:t>
            </a:r>
            <a:endParaRPr lang="en-US" sz="24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     - Uses a bottom-up table P[c] that stores best profit for each capacity</a:t>
            </a:r>
          </a:p>
          <a:p>
            <a:pPr marL="0" indent="0">
              <a:buNone/>
            </a:pPr>
            <a:endParaRPr lang="en-US" sz="24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400" b="1">
                <a:ea typeface="+mn-lt"/>
                <a:cs typeface="+mn-lt"/>
              </a:rPr>
              <a:t>   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9783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62D42-1AF2-AE62-0154-1158F2FBE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530" y="572353"/>
            <a:ext cx="10058400" cy="1143841"/>
          </a:xfrm>
        </p:spPr>
        <p:txBody>
          <a:bodyPr/>
          <a:lstStyle/>
          <a:p>
            <a:r>
              <a:rPr lang="en-US" sz="4400">
                <a:ea typeface="+mj-lt"/>
                <a:cs typeface="+mj-lt"/>
              </a:rPr>
              <a:t>Unbounded Knapsack – Pseudocode (Part 1)</a:t>
            </a:r>
            <a:endParaRPr lang="en-US" sz="4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67DF52-C844-E780-99CD-72AB8384D0B1}"/>
              </a:ext>
            </a:extLst>
          </p:cNvPr>
          <p:cNvSpPr txBox="1"/>
          <p:nvPr/>
        </p:nvSpPr>
        <p:spPr>
          <a:xfrm>
            <a:off x="732692" y="4288692"/>
            <a:ext cx="10980614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• Line 1: Determines number of items </a:t>
            </a:r>
            <a:r>
              <a:rPr lang="en-US" sz="2400">
                <a:latin typeface="Consolas"/>
                <a:ea typeface="+mn-lt"/>
                <a:cs typeface="+mn-lt"/>
              </a:rPr>
              <a:t>n</a:t>
            </a:r>
            <a:br>
              <a:rPr lang="en-US" sz="2400">
                <a:latin typeface="Consolas"/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• Line 2: Creates DP table </a:t>
            </a:r>
            <a:r>
              <a:rPr lang="en-US" sz="2400">
                <a:latin typeface="Consolas"/>
                <a:ea typeface="+mn-lt"/>
                <a:cs typeface="+mn-lt"/>
              </a:rPr>
              <a:t>P[0…C]</a:t>
            </a:r>
            <a:r>
              <a:rPr lang="en-US" sz="2400">
                <a:ea typeface="+mn-lt"/>
                <a:cs typeface="+mn-lt"/>
              </a:rPr>
              <a:t> initialized with zeros → uses O(C) space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• Line 3: Outer loop builds results bottom-up (small → large capacities)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• Line 4: Inner loop iterates through each item</a:t>
            </a:r>
            <a:endParaRPr lang="en-US">
              <a:ea typeface="+mn-lt"/>
              <a:cs typeface="+mn-lt"/>
            </a:endParaRPr>
          </a:p>
          <a:p>
            <a:endParaRPr lang="en-US" sz="2400">
              <a:ea typeface="Calibri"/>
              <a:cs typeface="Calibri"/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886EAE5-46DF-721B-6B4E-D7121B694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750" y="1713759"/>
            <a:ext cx="8239125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235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DFAA-E8A9-8B98-41AC-A569B30E6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8525" y="746678"/>
            <a:ext cx="10058400" cy="990682"/>
          </a:xfrm>
        </p:spPr>
        <p:txBody>
          <a:bodyPr/>
          <a:lstStyle/>
          <a:p>
            <a:r>
              <a:rPr lang="en-US" sz="4400">
                <a:ea typeface="+mj-lt"/>
                <a:cs typeface="+mj-lt"/>
              </a:rPr>
              <a:t>Unbounded Knapsack – Pseudocode (Part 2)</a:t>
            </a:r>
            <a:endParaRPr lang="en-US" sz="4400">
              <a:solidFill>
                <a:srgbClr val="000000"/>
              </a:solidFill>
              <a:ea typeface="+mj-lt"/>
              <a:cs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BFC3D-1FD9-4DFE-9604-8AE5D82632D1}"/>
              </a:ext>
            </a:extLst>
          </p:cNvPr>
          <p:cNvSpPr txBox="1"/>
          <p:nvPr/>
        </p:nvSpPr>
        <p:spPr>
          <a:xfrm>
            <a:off x="752231" y="4259385"/>
            <a:ext cx="11039229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• Lines 5–6: Check if item fits and apply DP relation </a:t>
            </a:r>
            <a:r>
              <a:rPr lang="en-US" sz="2400">
                <a:latin typeface="Calibri"/>
                <a:ea typeface="+mn-lt"/>
                <a:cs typeface="+mn-lt"/>
              </a:rPr>
              <a:t>profits</a:t>
            </a:r>
            <a:r>
              <a:rPr lang="en-US" sz="2400">
                <a:latin typeface="Calibri"/>
                <a:ea typeface="Calibri"/>
                <a:cs typeface="Calibri"/>
              </a:rPr>
              <a:t>[</a:t>
            </a:r>
            <a:r>
              <a:rPr lang="en-US" sz="2400" err="1">
                <a:latin typeface="Calibri"/>
                <a:ea typeface="Calibri"/>
                <a:cs typeface="Calibri"/>
              </a:rPr>
              <a:t>i</a:t>
            </a:r>
            <a:r>
              <a:rPr lang="en-US" sz="2400">
                <a:latin typeface="Calibri"/>
                <a:ea typeface="Calibri"/>
                <a:cs typeface="Calibri"/>
              </a:rPr>
              <a:t>] + P[c </a:t>
            </a:r>
            <a:r>
              <a:rPr lang="en-US" sz="2400">
                <a:latin typeface="Calibri"/>
                <a:ea typeface="+mn-lt"/>
                <a:cs typeface="+mn-lt"/>
              </a:rPr>
              <a:t>- weights</a:t>
            </a:r>
            <a:r>
              <a:rPr lang="en-US" sz="2400">
                <a:latin typeface="Calibri"/>
                <a:ea typeface="Calibri"/>
                <a:cs typeface="Calibri"/>
              </a:rPr>
              <a:t>[</a:t>
            </a:r>
            <a:r>
              <a:rPr lang="en-US" sz="2400" err="1">
                <a:latin typeface="Calibri"/>
                <a:ea typeface="Calibri"/>
                <a:cs typeface="Calibri"/>
              </a:rPr>
              <a:t>i</a:t>
            </a:r>
            <a:r>
              <a:rPr lang="en-US" sz="2400">
                <a:latin typeface="Calibri"/>
                <a:ea typeface="Calibri"/>
                <a:cs typeface="Calibri"/>
              </a:rPr>
              <a:t>]]</a:t>
            </a:r>
            <a:endParaRPr lang="en-US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• Line 7: Skips item if it does not fit in current capacity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• Lines 8–9: Ends both loops → DP table fully computed</a:t>
            </a:r>
            <a:endParaRPr lang="en-US"/>
          </a:p>
          <a:p>
            <a:r>
              <a:rPr lang="en-US" sz="2400">
                <a:ea typeface="+mn-lt"/>
                <a:cs typeface="+mn-lt"/>
              </a:rPr>
              <a:t>• Line 10: Returns array </a:t>
            </a:r>
            <a:r>
              <a:rPr lang="en-US" sz="2400">
                <a:latin typeface="Calibri"/>
                <a:ea typeface="Calibri"/>
                <a:cs typeface="Calibri"/>
              </a:rPr>
              <a:t>P</a:t>
            </a:r>
            <a:r>
              <a:rPr lang="en-US" sz="2400">
                <a:ea typeface="+mn-lt"/>
                <a:cs typeface="+mn-lt"/>
              </a:rPr>
              <a:t>, storing max profit for each capacity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ea typeface="+mn-lt"/>
                <a:cs typeface="+mn-lt"/>
              </a:rPr>
              <a:t>• Complexity: Time O(</a:t>
            </a:r>
            <a:r>
              <a:rPr lang="en-US" sz="2400" err="1">
                <a:ea typeface="+mn-lt"/>
                <a:cs typeface="+mn-lt"/>
              </a:rPr>
              <a:t>n×C</a:t>
            </a:r>
            <a:r>
              <a:rPr lang="en-US" sz="2400">
                <a:ea typeface="+mn-lt"/>
                <a:cs typeface="+mn-lt"/>
              </a:rPr>
              <a:t>) | Space O(C)</a:t>
            </a:r>
            <a:endParaRPr lang="en-US">
              <a:ea typeface="+mn-lt"/>
              <a:cs typeface="+mn-lt"/>
            </a:endParaRPr>
          </a:p>
          <a:p>
            <a:endParaRPr lang="en-US" sz="24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D08419B-0D10-C658-51F9-E7E4138289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729" y="1736214"/>
            <a:ext cx="8677275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610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FFBC-3D70-182B-9A45-9D0D4A28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EE7B1-B59A-D4A9-FDEA-2E2D93D89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/>
              <a:t>• Applies DP with a Bottom-Up approach for the Unbounded Knapsack</a:t>
            </a:r>
            <a:br>
              <a:rPr lang="en-US" sz="2400"/>
            </a:br>
            <a:endParaRPr lang="en-US" sz="2400"/>
          </a:p>
          <a:p>
            <a:pPr marL="0" indent="0">
              <a:buNone/>
            </a:pPr>
            <a:r>
              <a:rPr lang="en-US" sz="2400"/>
              <a:t>• Builds from smaller to full capacities efficiently</a:t>
            </a:r>
            <a:br>
              <a:rPr lang="en-US" sz="2400"/>
            </a:br>
            <a:endParaRPr lang="en-US" sz="2400"/>
          </a:p>
          <a:p>
            <a:pPr marL="0" indent="0">
              <a:buNone/>
            </a:pPr>
            <a:r>
              <a:rPr lang="en-US" sz="2400"/>
              <a:t>• Reuses subproblem results to save time</a:t>
            </a:r>
            <a:endParaRPr lang="en-US"/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• Produces the optimal total profit</a:t>
            </a:r>
          </a:p>
          <a:p>
            <a:pPr marL="0" indent="0">
              <a:buNone/>
            </a:pPr>
            <a:endParaRPr lang="en-US" sz="2400"/>
          </a:p>
          <a:p>
            <a:pPr marL="0" indent="0">
              <a:buNone/>
            </a:pPr>
            <a:r>
              <a:rPr lang="en-US" sz="2400"/>
              <a:t>• Complexity: Time O(</a:t>
            </a:r>
            <a:r>
              <a:rPr lang="en-US" sz="2400" err="1"/>
              <a:t>n×C</a:t>
            </a:r>
            <a:r>
              <a:rPr lang="en-US" sz="2400"/>
              <a:t>), Space O(C)</a:t>
            </a:r>
            <a:br>
              <a:rPr lang="en-US" sz="2400"/>
            </a:b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833842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3550FB-4A00-F338-BD29-2EB1216A8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928" y="965200"/>
            <a:ext cx="5999002" cy="492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EF5601-A8BC-411D-AA64-3E79320BA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93EC2-DFFC-7056-FF1F-BF202B63C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3356" y="1159565"/>
            <a:ext cx="2938022" cy="4439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b="1">
                <a:solidFill>
                  <a:srgbClr val="FFFFFF"/>
                </a:solidFill>
                <a:ea typeface="Calibri Light"/>
                <a:cs typeface="Calibri Light"/>
              </a:rPr>
              <a:t>Part 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209156-242F-4B26-8D07-CEB2B68A9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34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6029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5B46-9002-D05C-1273-3741BFEE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Part 4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5659B3-C8FE-3521-2455-C41A39DCF4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71167" y="1812647"/>
            <a:ext cx="4431548" cy="447096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B791C30-5DB0-D96C-2B3F-D385FDA6FCE7}"/>
              </a:ext>
            </a:extLst>
          </p:cNvPr>
          <p:cNvSpPr txBox="1">
            <a:spLocks/>
          </p:cNvSpPr>
          <p:nvPr/>
        </p:nvSpPr>
        <p:spPr>
          <a:xfrm>
            <a:off x="1030045" y="768455"/>
            <a:ext cx="10114429" cy="94649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803965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D0F67-03D8-A984-D04D-19946FF70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Knapsack Algorithm (Initialization)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7464BAAC-D524-4F02-9B78-CFF96D117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2638" y="3344134"/>
            <a:ext cx="3457575" cy="771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73C36C-EA03-D890-216C-F90250DD575F}"/>
              </a:ext>
            </a:extLst>
          </p:cNvPr>
          <p:cNvSpPr txBox="1"/>
          <p:nvPr/>
        </p:nvSpPr>
        <p:spPr>
          <a:xfrm>
            <a:off x="6236740" y="2848643"/>
            <a:ext cx="563510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/>
              <a:t>Legend</a:t>
            </a:r>
          </a:p>
          <a:p>
            <a:r>
              <a:rPr lang="en-US"/>
              <a:t>C = Capacity</a:t>
            </a:r>
          </a:p>
          <a:p>
            <a:r>
              <a:rPr lang="en-US"/>
              <a:t>Weight = Capacity of Item</a:t>
            </a:r>
          </a:p>
          <a:p>
            <a:r>
              <a:rPr lang="en-US"/>
              <a:t>Profit = Value of Item</a:t>
            </a:r>
          </a:p>
          <a:p>
            <a:r>
              <a:rPr lang="en-US"/>
              <a:t>N = no. Of items</a:t>
            </a:r>
          </a:p>
          <a:p>
            <a:r>
              <a:rPr lang="en-US"/>
              <a:t>P = initialise array of Profits = 0 for each Capacity: </a:t>
            </a:r>
          </a:p>
          <a:p>
            <a:r>
              <a:rPr lang="en-US"/>
              <a:t>e.g. [0,0,0]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EE99ACE-1377-2E21-B23F-7AD0C3A07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413" y="5692623"/>
            <a:ext cx="3248025" cy="29527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A4C3B1D-CF4C-9B2C-E3FA-6B898750BDE3}"/>
              </a:ext>
            </a:extLst>
          </p:cNvPr>
          <p:cNvSpPr txBox="1"/>
          <p:nvPr/>
        </p:nvSpPr>
        <p:spPr>
          <a:xfrm>
            <a:off x="6236740" y="5677436"/>
            <a:ext cx="563510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 = return updated array of Profits for each Capacity: </a:t>
            </a:r>
          </a:p>
          <a:p>
            <a:r>
              <a:rPr lang="en-US"/>
              <a:t>e.g.[0, 7, 16]</a:t>
            </a:r>
          </a:p>
        </p:txBody>
      </p:sp>
    </p:spTree>
    <p:extLst>
      <p:ext uri="{BB962C8B-B14F-4D97-AF65-F5344CB8AC3E}">
        <p14:creationId xmlns:p14="http://schemas.microsoft.com/office/powerpoint/2010/main" val="39988911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C146D-01C4-63DF-D8CA-A42AFCA35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11AF9-C233-92B4-698D-7702BC756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Knapsack Algorithm (Finding the largest Profit based on capacity)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B43386-1F75-68F4-FBC4-A4ADBD291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55" y="3539331"/>
            <a:ext cx="6210300" cy="923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765378-1CD9-E00B-E7FF-C0318CB461D6}"/>
              </a:ext>
            </a:extLst>
          </p:cNvPr>
          <p:cNvSpPr txBox="1"/>
          <p:nvPr/>
        </p:nvSpPr>
        <p:spPr>
          <a:xfrm>
            <a:off x="6800410" y="1784520"/>
            <a:ext cx="5395021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For each capacity size, iterate through all the items and if the item's weight is less than the capacity: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profits[</a:t>
            </a:r>
            <a:r>
              <a:rPr lang="en-US" err="1"/>
              <a:t>i</a:t>
            </a:r>
            <a:r>
              <a:rPr lang="en-US"/>
              <a:t>] :</a:t>
            </a:r>
            <a:r>
              <a:rPr lang="en-US">
                <a:ea typeface="+mn-lt"/>
                <a:cs typeface="+mn-lt"/>
              </a:rPr>
              <a:t> profit gained from taking the current item.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P[c - weights[</a:t>
            </a:r>
            <a:r>
              <a:rPr lang="en-US" err="1"/>
              <a:t>i</a:t>
            </a:r>
            <a:r>
              <a:rPr lang="en-US"/>
              <a:t>]] : </a:t>
            </a:r>
            <a:r>
              <a:rPr lang="en-US">
                <a:ea typeface="+mn-lt"/>
                <a:cs typeface="+mn-lt"/>
              </a:rPr>
              <a:t>best profit achievable with the remaining capacity after including this item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T</a:t>
            </a:r>
            <a:r>
              <a:rPr lang="en-US">
                <a:ea typeface="+mn-lt"/>
                <a:cs typeface="+mn-lt"/>
              </a:rPr>
              <a:t>hen compare the current best profit for this capacity, </a:t>
            </a:r>
            <a:r>
              <a:rPr lang="en-US">
                <a:latin typeface="Consolas"/>
              </a:rPr>
              <a:t>P[c]</a:t>
            </a:r>
            <a:r>
              <a:rPr lang="en-US">
                <a:ea typeface="+mn-lt"/>
                <a:cs typeface="+mn-lt"/>
              </a:rPr>
              <a:t>, with the new profit obtained by adding more item without exceeding the capacity.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The larger of the two values is stored in </a:t>
            </a:r>
            <a:r>
              <a:rPr lang="en-US">
                <a:latin typeface="Consolas"/>
              </a:rPr>
              <a:t>P[c]</a:t>
            </a:r>
            <a:r>
              <a:rPr lang="en-US">
                <a:ea typeface="+mn-lt"/>
                <a:cs typeface="+mn-lt"/>
              </a:rPr>
              <a:t>, ensuring that </a:t>
            </a:r>
            <a:r>
              <a:rPr lang="en-US">
                <a:latin typeface="Consolas"/>
              </a:rPr>
              <a:t>P[c]</a:t>
            </a:r>
            <a:r>
              <a:rPr lang="en-US">
                <a:ea typeface="+mn-lt"/>
                <a:cs typeface="+mn-lt"/>
              </a:rPr>
              <a:t> always holds the maximum profit achievable for capacity </a:t>
            </a:r>
            <a:r>
              <a:rPr lang="en-US">
                <a:latin typeface="Consolas"/>
              </a:rPr>
              <a:t>c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0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8D9A-AE2F-DFA2-4583-72CBE63D4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679" y="511262"/>
            <a:ext cx="11256723" cy="1346439"/>
          </a:xfrm>
        </p:spPr>
        <p:txBody>
          <a:bodyPr/>
          <a:lstStyle/>
          <a:p>
            <a:r>
              <a:rPr lang="en-US"/>
              <a:t>4a) show the running result of P(14) with weights and profits given in (2)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043E456-3678-38E7-E0C6-2CCA8E47EE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2666" y="3163425"/>
            <a:ext cx="3656280" cy="19607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82552D-ABB1-9434-1E6D-E6909DA761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140" y="5528027"/>
            <a:ext cx="6105525" cy="647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38F97E-FD45-D01A-C4C7-6DC7F1B16D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963" y="3424570"/>
            <a:ext cx="2819400" cy="866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2AC898C-0BEB-793F-7164-AA833BDFA9E3}"/>
              </a:ext>
            </a:extLst>
          </p:cNvPr>
          <p:cNvSpPr txBox="1"/>
          <p:nvPr/>
        </p:nvSpPr>
        <p:spPr>
          <a:xfrm>
            <a:off x="1970126" y="5666813"/>
            <a:ext cx="1074346" cy="37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Output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277AF2-15EE-F215-4471-0CBCA1F0D8B9}"/>
              </a:ext>
            </a:extLst>
          </p:cNvPr>
          <p:cNvSpPr txBox="1"/>
          <p:nvPr/>
        </p:nvSpPr>
        <p:spPr>
          <a:xfrm>
            <a:off x="1579425" y="2897855"/>
            <a:ext cx="1074346" cy="37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/>
              <a:t>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2F3C7F-ED25-1E42-0DE7-F74687F9DA90}"/>
              </a:ext>
            </a:extLst>
          </p:cNvPr>
          <p:cNvSpPr txBox="1"/>
          <p:nvPr/>
        </p:nvSpPr>
        <p:spPr>
          <a:xfrm>
            <a:off x="9147232" y="2763383"/>
            <a:ext cx="1074346" cy="37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5462704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30F1-9A55-204A-7685-931F3D8CB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4b) show the running result of P(14) with weights and profits given below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DAC3508-F2D1-7AEB-A23D-17D8D32362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5356" y="3062931"/>
            <a:ext cx="3591426" cy="1905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29C7C7-BF14-3AAF-27D7-0C859E65E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516" y="5579711"/>
            <a:ext cx="5886450" cy="609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280212-D542-6EE7-99E2-3619A8F75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43" y="3280705"/>
            <a:ext cx="2667000" cy="8382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D738C6C-65FC-E9F8-7A86-0C15D10132B1}"/>
              </a:ext>
            </a:extLst>
          </p:cNvPr>
          <p:cNvSpPr txBox="1"/>
          <p:nvPr/>
        </p:nvSpPr>
        <p:spPr>
          <a:xfrm>
            <a:off x="2026156" y="5689225"/>
            <a:ext cx="1074346" cy="37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Output 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FD6CD-E6B7-1A0A-0D4C-D3B551FF4135}"/>
              </a:ext>
            </a:extLst>
          </p:cNvPr>
          <p:cNvSpPr txBox="1"/>
          <p:nvPr/>
        </p:nvSpPr>
        <p:spPr>
          <a:xfrm>
            <a:off x="1579425" y="2897855"/>
            <a:ext cx="1074346" cy="37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/>
              <a:t>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F8BA26-1A01-A6FB-7842-6C2654CA37D5}"/>
              </a:ext>
            </a:extLst>
          </p:cNvPr>
          <p:cNvSpPr txBox="1"/>
          <p:nvPr/>
        </p:nvSpPr>
        <p:spPr>
          <a:xfrm>
            <a:off x="9035173" y="2696148"/>
            <a:ext cx="1074346" cy="3797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u="sng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2863363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EC21-0916-66BE-B5E1-65DA6FAD1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965" y="2833562"/>
            <a:ext cx="10058400" cy="14507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b="1">
                <a:ea typeface="Calibri Light"/>
                <a:cs typeface="Calibri Ligh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5873377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Retrospect</vt:lpstr>
      <vt:lpstr>SC2001 SCSD Lab 3</vt:lpstr>
      <vt:lpstr>Content</vt:lpstr>
      <vt:lpstr>PowerPoint Presentation</vt:lpstr>
      <vt:lpstr>Recursive definition of P(C)</vt:lpstr>
      <vt:lpstr>PowerPoint Presentation</vt:lpstr>
      <vt:lpstr>Subproblem graph 1</vt:lpstr>
      <vt:lpstr>Subproblem graph 2</vt:lpstr>
      <vt:lpstr>PowerPoint Presentation</vt:lpstr>
      <vt:lpstr>Unbounded Knapsack (Concept)</vt:lpstr>
      <vt:lpstr>Algorithm &amp; DP Relation</vt:lpstr>
      <vt:lpstr>Unbounded Knapsack – Pseudocode (Part 1)</vt:lpstr>
      <vt:lpstr>Unbounded Knapsack – Pseudocode (Part 2)</vt:lpstr>
      <vt:lpstr>Conclusion</vt:lpstr>
      <vt:lpstr>PowerPoint Presentation</vt:lpstr>
      <vt:lpstr>Part 4</vt:lpstr>
      <vt:lpstr>Knapsack Algorithm (Initialization)</vt:lpstr>
      <vt:lpstr>Knapsack Algorithm (Finding the largest Profit based on capacity)</vt:lpstr>
      <vt:lpstr>4a) show the running result of P(14) with weights and profits given in (2)</vt:lpstr>
      <vt:lpstr>4b) show the running result of P(14) with weights and profits given below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</cp:revision>
  <dcterms:created xsi:type="dcterms:W3CDTF">2025-10-15T10:46:22Z</dcterms:created>
  <dcterms:modified xsi:type="dcterms:W3CDTF">2025-12-19T18:30:02Z</dcterms:modified>
</cp:coreProperties>
</file>